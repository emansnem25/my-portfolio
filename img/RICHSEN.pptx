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811" r:id="rId1"/>
  </p:sldMasterIdLst>
  <p:notesMasterIdLst>
    <p:notesMasterId r:id="rId22"/>
  </p:notesMasterIdLst>
  <p:sldIdLst>
    <p:sldId id="283" r:id="rId2"/>
    <p:sldId id="256" r:id="rId3"/>
    <p:sldId id="257" r:id="rId4"/>
    <p:sldId id="258" r:id="rId5"/>
    <p:sldId id="261" r:id="rId6"/>
    <p:sldId id="259" r:id="rId7"/>
    <p:sldId id="260" r:id="rId8"/>
    <p:sldId id="262" r:id="rId9"/>
    <p:sldId id="281" r:id="rId10"/>
    <p:sldId id="265" r:id="rId11"/>
    <p:sldId id="282" r:id="rId12"/>
    <p:sldId id="266" r:id="rId13"/>
    <p:sldId id="273" r:id="rId14"/>
    <p:sldId id="270" r:id="rId15"/>
    <p:sldId id="274" r:id="rId16"/>
    <p:sldId id="276" r:id="rId17"/>
    <p:sldId id="277" r:id="rId18"/>
    <p:sldId id="279" r:id="rId19"/>
    <p:sldId id="280" r:id="rId20"/>
    <p:sldId id="284" r:id="rId2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Style moyen 1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00" autoAdjust="0"/>
    <p:restoredTop sz="68482" autoAdjust="0"/>
  </p:normalViewPr>
  <p:slideViewPr>
    <p:cSldViewPr snapToGrid="0">
      <p:cViewPr varScale="1">
        <p:scale>
          <a:sx n="61" d="100"/>
          <a:sy n="61" d="100"/>
        </p:scale>
        <p:origin x="1248" y="34"/>
      </p:cViewPr>
      <p:guideLst/>
    </p:cSldViewPr>
  </p:slideViewPr>
  <p:outlineViewPr>
    <p:cViewPr>
      <p:scale>
        <a:sx n="33" d="100"/>
        <a:sy n="33" d="100"/>
      </p:scale>
      <p:origin x="0" y="-33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50" d="100"/>
          <a:sy n="50" d="100"/>
        </p:scale>
        <p:origin x="2886"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embeddings/oleObject2.bin"/><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embeddings/oleObject3.bin"/><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477287167150835E-2"/>
          <c:y val="8.2287186318205419E-2"/>
          <c:w val="0.89019685039370078"/>
          <c:h val="0.75228245315305142"/>
        </c:manualLayout>
      </c:layout>
      <c:barChart>
        <c:barDir val="col"/>
        <c:grouping val="clustered"/>
        <c:varyColors val="0"/>
        <c:ser>
          <c:idx val="0"/>
          <c:order val="0"/>
          <c:tx>
            <c:strRef>
              <c:f>Feuil3!$C$1</c:f>
              <c:strCache>
                <c:ptCount val="1"/>
                <c:pt idx="0">
                  <c:v>Nombre de répondant %</c:v>
                </c:pt>
              </c:strCache>
            </c:strRef>
          </c:tx>
          <c:spPr>
            <a:solidFill>
              <a:schemeClr val="accent1"/>
            </a:solidFill>
            <a:ln>
              <a:noFill/>
            </a:ln>
            <a:effectLst/>
          </c:spPr>
          <c:invertIfNegative val="0"/>
          <c:cat>
            <c:strRef>
              <c:f>Feuil3!$B$2:$B$5</c:f>
              <c:strCache>
                <c:ptCount val="4"/>
                <c:pt idx="0">
                  <c:v>Promenades</c:v>
                </c:pt>
                <c:pt idx="1">
                  <c:v>Loisir</c:v>
                </c:pt>
                <c:pt idx="2">
                  <c:v> Jeux</c:v>
                </c:pt>
                <c:pt idx="3">
                  <c:v>Ombrage</c:v>
                </c:pt>
              </c:strCache>
            </c:strRef>
          </c:cat>
          <c:val>
            <c:numRef>
              <c:f>Feuil3!$C$2:$C$5</c:f>
              <c:numCache>
                <c:formatCode>General</c:formatCode>
                <c:ptCount val="4"/>
                <c:pt idx="0">
                  <c:v>87</c:v>
                </c:pt>
                <c:pt idx="1">
                  <c:v>87</c:v>
                </c:pt>
                <c:pt idx="2">
                  <c:v>75</c:v>
                </c:pt>
                <c:pt idx="3">
                  <c:v>25</c:v>
                </c:pt>
              </c:numCache>
            </c:numRef>
          </c:val>
          <c:extLst xmlns:c16r2="http://schemas.microsoft.com/office/drawing/2015/06/chart">
            <c:ext xmlns:c16="http://schemas.microsoft.com/office/drawing/2014/chart" uri="{C3380CC4-5D6E-409C-BE32-E72D297353CC}">
              <c16:uniqueId val="{00000000-3A3C-4ECC-86C2-90486E57CBA4}"/>
            </c:ext>
          </c:extLst>
        </c:ser>
        <c:dLbls>
          <c:showLegendKey val="0"/>
          <c:showVal val="0"/>
          <c:showCatName val="0"/>
          <c:showSerName val="0"/>
          <c:showPercent val="0"/>
          <c:showBubbleSize val="0"/>
        </c:dLbls>
        <c:gapWidth val="219"/>
        <c:overlap val="-27"/>
        <c:axId val="1076478320"/>
        <c:axId val="1076485392"/>
      </c:barChart>
      <c:catAx>
        <c:axId val="1076478320"/>
        <c:scaling>
          <c:orientation val="minMax"/>
        </c:scaling>
        <c:delete val="0"/>
        <c:axPos val="b"/>
        <c:title>
          <c:tx>
            <c:rich>
              <a:bodyPr rot="0" spcFirstLastPara="1" vertOverflow="ellipsis" vert="horz" wrap="square" anchor="ctr" anchorCtr="1"/>
              <a:lstStyle/>
              <a:p>
                <a:pPr>
                  <a:defRPr sz="1600" b="1" i="0" u="none" strike="noStrike" kern="1200" baseline="0">
                    <a:solidFill>
                      <a:schemeClr val="dk1"/>
                    </a:solidFill>
                    <a:latin typeface="Times New Roman" panose="02020603050405020304" pitchFamily="18" charset="0"/>
                    <a:ea typeface="+mn-ea"/>
                    <a:cs typeface="Times New Roman" panose="02020603050405020304" pitchFamily="18" charset="0"/>
                  </a:defRPr>
                </a:pPr>
                <a:r>
                  <a:rPr lang="fr-FR" sz="1600" b="1" noProof="0" dirty="0">
                    <a:latin typeface="Times New Roman" panose="02020603050405020304" pitchFamily="18" charset="0"/>
                    <a:cs typeface="Times New Roman" panose="02020603050405020304" pitchFamily="18" charset="0"/>
                  </a:rPr>
                  <a:t>Types d'usage</a:t>
                </a:r>
              </a:p>
            </c:rich>
          </c:tx>
          <c:layout>
            <c:manualLayout>
              <c:xMode val="edge"/>
              <c:yMode val="edge"/>
              <c:x val="0.38204267329775321"/>
              <c:y val="0.92804154302670605"/>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crossAx val="1076485392"/>
        <c:crosses val="autoZero"/>
        <c:auto val="1"/>
        <c:lblAlgn val="ctr"/>
        <c:lblOffset val="100"/>
        <c:noMultiLvlLbl val="0"/>
      </c:catAx>
      <c:valAx>
        <c:axId val="10764853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dk1"/>
                    </a:solidFill>
                    <a:latin typeface="Times New Roman" panose="02020603050405020304" pitchFamily="18" charset="0"/>
                    <a:ea typeface="+mn-ea"/>
                    <a:cs typeface="Times New Roman" panose="02020603050405020304" pitchFamily="18" charset="0"/>
                  </a:defRPr>
                </a:pPr>
                <a:r>
                  <a:rPr lang="fr-FR" sz="1600" b="1" noProof="0" dirty="0">
                    <a:latin typeface="Times New Roman" panose="02020603050405020304" pitchFamily="18" charset="0"/>
                    <a:cs typeface="Times New Roman" panose="02020603050405020304" pitchFamily="18" charset="0"/>
                  </a:rPr>
                  <a:t>Taux de réponse en %</a:t>
                </a:r>
              </a:p>
            </c:rich>
          </c:tx>
          <c:layout>
            <c:manualLayout>
              <c:xMode val="edge"/>
              <c:yMode val="edge"/>
              <c:x val="4.949744185202656E-3"/>
              <c:y val="0.20786934274165283"/>
            </c:manualLayout>
          </c:layout>
          <c:overlay val="0"/>
          <c:spPr>
            <a:noFill/>
            <a:ln>
              <a:noFill/>
            </a:ln>
            <a:effectLst/>
          </c:spPr>
          <c:txPr>
            <a:bodyPr rot="-5400000" spcFirstLastPara="1" vertOverflow="ellipsis" vert="horz" wrap="square" anchor="ctr" anchorCtr="1"/>
            <a:lstStyle/>
            <a:p>
              <a:pPr>
                <a:defRPr sz="1600" b="1"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crossAx val="1076478320"/>
        <c:crosses val="autoZero"/>
        <c:crossBetween val="between"/>
      </c:valAx>
      <c:spPr>
        <a:noFill/>
        <a:ln>
          <a:noFill/>
        </a:ln>
        <a:effectLst/>
      </c:spPr>
    </c:plotArea>
    <c:plotVisOnly val="1"/>
    <c:dispBlanksAs val="gap"/>
    <c:showDLblsOverMax val="0"/>
  </c:chart>
  <c:spPr>
    <a:solidFill>
      <a:schemeClr val="lt1"/>
    </a:solidFill>
    <a:ln w="12700" cap="flat" cmpd="sng" algn="ctr">
      <a:solidFill>
        <a:schemeClr val="dk1"/>
      </a:solidFill>
      <a:prstDash val="solid"/>
      <a:miter lim="800000"/>
    </a:ln>
    <a:effectLst/>
  </c:spPr>
  <c:txPr>
    <a:bodyPr/>
    <a:lstStyle/>
    <a:p>
      <a:pPr>
        <a:defRPr>
          <a:solidFill>
            <a:schemeClr val="dk1"/>
          </a:solidFill>
          <a:latin typeface="+mn-lt"/>
          <a:ea typeface="+mn-ea"/>
          <a:cs typeface="+mn-cs"/>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28393389874157"/>
          <c:y val="3.9302679719283716E-2"/>
          <c:w val="0.86390764193035396"/>
          <c:h val="0.67852549443330867"/>
        </c:manualLayout>
      </c:layout>
      <c:barChart>
        <c:barDir val="col"/>
        <c:grouping val="clustered"/>
        <c:varyColors val="0"/>
        <c:ser>
          <c:idx val="0"/>
          <c:order val="0"/>
          <c:tx>
            <c:strRef>
              <c:f>'[Graphique dans Microsoft Word]Feuil7'!$B$1</c:f>
              <c:strCache>
                <c:ptCount val="1"/>
                <c:pt idx="0">
                  <c:v>Taux de réponse </c:v>
                </c:pt>
              </c:strCache>
            </c:strRef>
          </c:tx>
          <c:spPr>
            <a:solidFill>
              <a:schemeClr val="accent1"/>
            </a:solidFill>
            <a:ln>
              <a:noFill/>
            </a:ln>
            <a:effectLst/>
          </c:spPr>
          <c:invertIfNegative val="0"/>
          <c:cat>
            <c:strRef>
              <c:f>'[Graphique dans Microsoft Word]Feuil7'!$A$2:$A$6</c:f>
              <c:strCache>
                <c:ptCount val="5"/>
                <c:pt idx="0">
                  <c:v>Insuffisance de matériels</c:v>
                </c:pt>
                <c:pt idx="1">
                  <c:v>Problèmes organisationnels</c:v>
                </c:pt>
                <c:pt idx="2">
                  <c:v>Mauvaise foi de certains agents</c:v>
                </c:pt>
                <c:pt idx="3">
                  <c:v>Pannes des matériels</c:v>
                </c:pt>
                <c:pt idx="4">
                  <c:v>Manque de ressource humaine</c:v>
                </c:pt>
              </c:strCache>
            </c:strRef>
          </c:cat>
          <c:val>
            <c:numRef>
              <c:f>'[Graphique dans Microsoft Word]Feuil7'!$B$2:$B$6</c:f>
              <c:numCache>
                <c:formatCode>General</c:formatCode>
                <c:ptCount val="5"/>
                <c:pt idx="0">
                  <c:v>81.25</c:v>
                </c:pt>
                <c:pt idx="1">
                  <c:v>50</c:v>
                </c:pt>
                <c:pt idx="2">
                  <c:v>37.5</c:v>
                </c:pt>
                <c:pt idx="3">
                  <c:v>6.25</c:v>
                </c:pt>
                <c:pt idx="4">
                  <c:v>6.25</c:v>
                </c:pt>
              </c:numCache>
            </c:numRef>
          </c:val>
          <c:extLst xmlns:c16r2="http://schemas.microsoft.com/office/drawing/2015/06/chart">
            <c:ext xmlns:c16="http://schemas.microsoft.com/office/drawing/2014/chart" uri="{C3380CC4-5D6E-409C-BE32-E72D297353CC}">
              <c16:uniqueId val="{00000000-46CD-4C85-A385-E932497986F3}"/>
            </c:ext>
          </c:extLst>
        </c:ser>
        <c:dLbls>
          <c:showLegendKey val="0"/>
          <c:showVal val="0"/>
          <c:showCatName val="0"/>
          <c:showSerName val="0"/>
          <c:showPercent val="0"/>
          <c:showBubbleSize val="0"/>
        </c:dLbls>
        <c:gapWidth val="219"/>
        <c:overlap val="-27"/>
        <c:axId val="1076485936"/>
        <c:axId val="1076483216"/>
      </c:barChart>
      <c:catAx>
        <c:axId val="1076485936"/>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dk1"/>
                    </a:solidFill>
                    <a:latin typeface="Times New Roman" panose="02020603050405020304" pitchFamily="18" charset="0"/>
                    <a:ea typeface="+mn-ea"/>
                    <a:cs typeface="Times New Roman" panose="02020603050405020304" pitchFamily="18" charset="0"/>
                  </a:defRPr>
                </a:pPr>
                <a:r>
                  <a:rPr lang="fr-FR" sz="1800" b="1">
                    <a:latin typeface="Times New Roman" panose="02020603050405020304" pitchFamily="18" charset="0"/>
                    <a:cs typeface="Times New Roman" panose="02020603050405020304" pitchFamily="18" charset="0"/>
                  </a:rPr>
                  <a:t>Difficultés rencontrées </a:t>
                </a:r>
              </a:p>
            </c:rich>
          </c:tx>
          <c:layout>
            <c:manualLayout>
              <c:xMode val="edge"/>
              <c:yMode val="edge"/>
              <c:x val="0.38682107564416079"/>
              <c:y val="0.89343016848948831"/>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crossAx val="1076483216"/>
        <c:crosses val="autoZero"/>
        <c:auto val="1"/>
        <c:lblAlgn val="ctr"/>
        <c:lblOffset val="100"/>
        <c:noMultiLvlLbl val="0"/>
      </c:catAx>
      <c:valAx>
        <c:axId val="10764832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dk1"/>
                    </a:solidFill>
                    <a:latin typeface="Times New Roman" panose="02020603050405020304" pitchFamily="18" charset="0"/>
                    <a:ea typeface="+mn-ea"/>
                    <a:cs typeface="Times New Roman" panose="02020603050405020304" pitchFamily="18" charset="0"/>
                  </a:defRPr>
                </a:pPr>
                <a:r>
                  <a:rPr lang="fr-FR" sz="1800" b="1">
                    <a:latin typeface="Times New Roman" panose="02020603050405020304" pitchFamily="18" charset="0"/>
                    <a:cs typeface="Times New Roman" panose="02020603050405020304" pitchFamily="18" charset="0"/>
                  </a:rPr>
                  <a:t>Taux de réponse en %</a:t>
                </a:r>
              </a:p>
            </c:rich>
          </c:tx>
          <c:layout>
            <c:manualLayout>
              <c:xMode val="edge"/>
              <c:yMode val="edge"/>
              <c:x val="1.9081719686668035E-2"/>
              <c:y val="0.11887635351231615"/>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crossAx val="1076485936"/>
        <c:crosses val="autoZero"/>
        <c:crossBetween val="between"/>
      </c:valAx>
      <c:spPr>
        <a:noFill/>
        <a:ln>
          <a:noFill/>
        </a:ln>
        <a:effectLst/>
      </c:spPr>
    </c:plotArea>
    <c:plotVisOnly val="1"/>
    <c:dispBlanksAs val="gap"/>
    <c:showDLblsOverMax val="0"/>
  </c:chart>
  <c:spPr>
    <a:solidFill>
      <a:schemeClr val="lt1"/>
    </a:solidFill>
    <a:ln w="12700" cap="flat" cmpd="sng" algn="ctr">
      <a:solidFill>
        <a:schemeClr val="dk1"/>
      </a:solidFill>
      <a:prstDash val="solid"/>
      <a:miter lim="800000"/>
    </a:ln>
    <a:effectLst/>
  </c:spPr>
  <c:txPr>
    <a:bodyPr/>
    <a:lstStyle/>
    <a:p>
      <a:pPr>
        <a:defRPr>
          <a:solidFill>
            <a:schemeClr val="dk1"/>
          </a:solidFill>
          <a:latin typeface="+mn-lt"/>
          <a:ea typeface="+mn-ea"/>
          <a:cs typeface="+mn-cs"/>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1139190798081526E-2"/>
          <c:y val="4.9636632004059059E-2"/>
          <c:w val="0.90286351706036749"/>
          <c:h val="0.75304349004060134"/>
        </c:manualLayout>
      </c:layout>
      <c:barChart>
        <c:barDir val="col"/>
        <c:grouping val="clustered"/>
        <c:varyColors val="0"/>
        <c:ser>
          <c:idx val="0"/>
          <c:order val="0"/>
          <c:tx>
            <c:strRef>
              <c:f>'[Graphique dans Microsoft Word]Feuil6'!$B$1</c:f>
              <c:strCache>
                <c:ptCount val="1"/>
                <c:pt idx="0">
                  <c:v>Nombre de repondant</c:v>
                </c:pt>
              </c:strCache>
            </c:strRef>
          </c:tx>
          <c:spPr>
            <a:solidFill>
              <a:schemeClr val="accent1"/>
            </a:solidFill>
            <a:ln w="19050">
              <a:solidFill>
                <a:schemeClr val="lt1"/>
              </a:solidFill>
            </a:ln>
            <a:effectLst/>
          </c:spPr>
          <c:invertIfNegative val="0"/>
          <c:cat>
            <c:strRef>
              <c:f>'[Graphique dans Microsoft Word]Feuil6'!$A$2:$A$4</c:f>
              <c:strCache>
                <c:ptCount val="3"/>
                <c:pt idx="0">
                  <c:v>Très satisfaisant</c:v>
                </c:pt>
                <c:pt idx="1">
                  <c:v>Satisfaisant</c:v>
                </c:pt>
                <c:pt idx="2">
                  <c:v>Peu satisfaisant</c:v>
                </c:pt>
              </c:strCache>
            </c:strRef>
          </c:cat>
          <c:val>
            <c:numRef>
              <c:f>'[Graphique dans Microsoft Word]Feuil6'!$B$2:$B$4</c:f>
              <c:numCache>
                <c:formatCode>General</c:formatCode>
                <c:ptCount val="3"/>
                <c:pt idx="0">
                  <c:v>94</c:v>
                </c:pt>
                <c:pt idx="1">
                  <c:v>4</c:v>
                </c:pt>
                <c:pt idx="2">
                  <c:v>2</c:v>
                </c:pt>
              </c:numCache>
            </c:numRef>
          </c:val>
          <c:extLst xmlns:c16r2="http://schemas.microsoft.com/office/drawing/2015/06/chart">
            <c:ext xmlns:c16="http://schemas.microsoft.com/office/drawing/2014/chart" uri="{C3380CC4-5D6E-409C-BE32-E72D297353CC}">
              <c16:uniqueId val="{00000000-9FA3-4B82-9E25-180882C954B5}"/>
            </c:ext>
          </c:extLst>
        </c:ser>
        <c:dLbls>
          <c:showLegendKey val="0"/>
          <c:showVal val="0"/>
          <c:showCatName val="0"/>
          <c:showSerName val="0"/>
          <c:showPercent val="0"/>
          <c:showBubbleSize val="0"/>
        </c:dLbls>
        <c:gapWidth val="150"/>
        <c:axId val="1076484848"/>
        <c:axId val="1076486480"/>
      </c:barChart>
      <c:catAx>
        <c:axId val="1076484848"/>
        <c:scaling>
          <c:orientation val="minMax"/>
        </c:scaling>
        <c:delete val="0"/>
        <c:axPos val="b"/>
        <c:title>
          <c:tx>
            <c:rich>
              <a:bodyPr rot="0" spcFirstLastPara="1" vertOverflow="ellipsis" vert="horz" wrap="square" anchor="ctr" anchorCtr="1"/>
              <a:lstStyle/>
              <a:p>
                <a:pPr>
                  <a:defRPr sz="2000" b="1" i="0" u="none" strike="noStrike" kern="1200" baseline="0">
                    <a:solidFill>
                      <a:schemeClr val="dk1"/>
                    </a:solidFill>
                    <a:latin typeface="Times New Roman" panose="02020603050405020304" pitchFamily="18" charset="0"/>
                    <a:ea typeface="+mn-ea"/>
                    <a:cs typeface="Times New Roman" panose="02020603050405020304" pitchFamily="18" charset="0"/>
                  </a:defRPr>
                </a:pPr>
                <a:r>
                  <a:rPr lang="fr-FR" sz="2000" b="1" dirty="0">
                    <a:latin typeface="Times New Roman" panose="02020603050405020304" pitchFamily="18" charset="0"/>
                    <a:cs typeface="Times New Roman" panose="02020603050405020304" pitchFamily="18" charset="0"/>
                  </a:rPr>
                  <a:t>Appréciations des riverains</a:t>
                </a:r>
              </a:p>
            </c:rich>
          </c:tx>
          <c:layout>
            <c:manualLayout>
              <c:xMode val="edge"/>
              <c:yMode val="edge"/>
              <c:x val="0.33358610290099872"/>
              <c:y val="0.91540111419185211"/>
            </c:manualLayout>
          </c:layout>
          <c:overlay val="0"/>
          <c:spPr>
            <a:noFill/>
            <a:ln>
              <a:noFill/>
            </a:ln>
            <a:effectLst/>
          </c:spPr>
          <c:txPr>
            <a:bodyPr rot="0" spcFirstLastPara="1" vertOverflow="ellipsis" vert="horz" wrap="square" anchor="ctr" anchorCtr="1"/>
            <a:lstStyle/>
            <a:p>
              <a:pPr>
                <a:defRPr sz="2000" b="1"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crossAx val="1076486480"/>
        <c:crosses val="autoZero"/>
        <c:auto val="1"/>
        <c:lblAlgn val="ctr"/>
        <c:lblOffset val="100"/>
        <c:noMultiLvlLbl val="0"/>
      </c:catAx>
      <c:valAx>
        <c:axId val="10764864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dk1"/>
                    </a:solidFill>
                    <a:latin typeface="Times New Roman" panose="02020603050405020304" pitchFamily="18" charset="0"/>
                    <a:ea typeface="+mn-ea"/>
                    <a:cs typeface="Times New Roman" panose="02020603050405020304" pitchFamily="18" charset="0"/>
                  </a:defRPr>
                </a:pPr>
                <a:r>
                  <a:rPr lang="fr-FR" sz="1800" b="1">
                    <a:latin typeface="Times New Roman" panose="02020603050405020304" pitchFamily="18" charset="0"/>
                    <a:cs typeface="Times New Roman" panose="02020603050405020304" pitchFamily="18" charset="0"/>
                  </a:rPr>
                  <a:t>Taux de réponse en %</a:t>
                </a:r>
              </a:p>
            </c:rich>
          </c:tx>
          <c:layout>
            <c:manualLayout>
              <c:xMode val="edge"/>
              <c:yMode val="edge"/>
              <c:x val="1.4082131667374483E-4"/>
              <c:y val="0.18320537723133062"/>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fr-FR"/>
          </a:p>
        </c:txPr>
        <c:crossAx val="1076484848"/>
        <c:crosses val="autoZero"/>
        <c:crossBetween val="between"/>
      </c:valAx>
      <c:spPr>
        <a:noFill/>
        <a:ln>
          <a:noFill/>
        </a:ln>
        <a:effectLst/>
      </c:spPr>
    </c:plotArea>
    <c:plotVisOnly val="1"/>
    <c:dispBlanksAs val="gap"/>
    <c:showDLblsOverMax val="0"/>
  </c:chart>
  <c:spPr>
    <a:solidFill>
      <a:schemeClr val="lt1"/>
    </a:solidFill>
    <a:ln w="12700" cap="flat" cmpd="sng" algn="ctr">
      <a:solidFill>
        <a:schemeClr val="dk1"/>
      </a:solidFill>
      <a:prstDash val="solid"/>
      <a:miter lim="800000"/>
    </a:ln>
    <a:effectLst/>
  </c:spPr>
  <c:txPr>
    <a:bodyPr/>
    <a:lstStyle/>
    <a:p>
      <a:pPr>
        <a:defRPr>
          <a:solidFill>
            <a:schemeClr val="dk1"/>
          </a:solidFill>
          <a:latin typeface="+mn-lt"/>
          <a:ea typeface="+mn-ea"/>
          <a:cs typeface="+mn-cs"/>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9693D4-D5B5-45BF-B70E-7E01076E6074}" type="datetimeFigureOut">
              <a:rPr lang="fr-FR" smtClean="0"/>
              <a:t>07/10/2025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899911-CF93-45D0-BC05-B3815F7BD6F0}" type="slidenum">
              <a:rPr lang="fr-FR" smtClean="0"/>
              <a:t>‹N°›</a:t>
            </a:fld>
            <a:endParaRPr lang="fr-FR" dirty="0"/>
          </a:p>
        </p:txBody>
      </p:sp>
    </p:spTree>
    <p:extLst>
      <p:ext uri="{BB962C8B-B14F-4D97-AF65-F5344CB8AC3E}">
        <p14:creationId xmlns:p14="http://schemas.microsoft.com/office/powerpoint/2010/main" val="2690773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a:r>
              <a:rPr lang="fr-FR" sz="2000" b="1" dirty="0"/>
              <a:t>Merci Mr le président du Jury de m’avoir accordé la parole</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
Excellence monsieur le Président du jury, 
Honorables membres du jury, distingués parents, amis et invités, soyez les bienvenus. Je</a:t>
            </a:r>
            <a:r>
              <a:rPr lang="fr-FR" sz="2000" b="1" kern="1200" baseline="0" dirty="0">
                <a:solidFill>
                  <a:schemeClr val="tx1"/>
                </a:solidFill>
                <a:effectLst/>
                <a:latin typeface="Times New Roman" panose="02020603050405020304" pitchFamily="18" charset="0"/>
                <a:ea typeface="+mn-ea"/>
                <a:cs typeface="Times New Roman" panose="02020603050405020304" pitchFamily="18" charset="0"/>
              </a:rPr>
              <a:t> tiens</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 a vous remercier d’avoir accepter d’</a:t>
            </a:r>
            <a:r>
              <a:rPr lang="fr-FR" sz="2000" b="1" kern="1200" dirty="0" err="1">
                <a:solidFill>
                  <a:schemeClr val="tx1"/>
                </a:solidFill>
                <a:effectLst/>
                <a:latin typeface="Times New Roman" panose="02020603050405020304" pitchFamily="18" charset="0"/>
                <a:ea typeface="+mn-ea"/>
                <a:cs typeface="Times New Roman" panose="02020603050405020304" pitchFamily="18" charset="0"/>
              </a:rPr>
              <a:t>evaluer</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 mes travaux de recherche qui porte sur le sujet </a:t>
            </a:r>
            <a:endParaRPr lang="fr-FR" altLang="fr-FR" sz="2000" b="1" i="0" dirty="0">
              <a:solidFill>
                <a:schemeClr val="tx1"/>
              </a:solidFill>
              <a:latin typeface="Times New Roman" panose="02020603050405020304" pitchFamily="18"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a:t>
            </a:fld>
            <a:endParaRPr lang="fr-FR" dirty="0"/>
          </a:p>
        </p:txBody>
      </p:sp>
    </p:spTree>
    <p:extLst>
      <p:ext uri="{BB962C8B-B14F-4D97-AF65-F5344CB8AC3E}">
        <p14:creationId xmlns:p14="http://schemas.microsoft.com/office/powerpoint/2010/main" val="2585010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latin typeface="Times New Roman" panose="02020603050405020304" pitchFamily="18" charset="0"/>
                <a:cs typeface="Times New Roman" panose="02020603050405020304" pitchFamily="18" charset="0"/>
              </a:rPr>
              <a:t>GESTION DES ESPACES VERTS DANS LES LOGEMENTS SOCIAUX ET ECONOMIQUES DE OUEDO</a:t>
            </a:r>
            <a:endParaRPr lang="fr-FR" sz="1200" dirty="0">
              <a:latin typeface="Times New Roman" panose="02020603050405020304" pitchFamily="18"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2</a:t>
            </a:fld>
            <a:endParaRPr lang="fr-FR" dirty="0"/>
          </a:p>
        </p:txBody>
      </p:sp>
    </p:spTree>
    <p:extLst>
      <p:ext uri="{BB962C8B-B14F-4D97-AF65-F5344CB8AC3E}">
        <p14:creationId xmlns:p14="http://schemas.microsoft.com/office/powerpoint/2010/main" val="4058073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t>Notre présentation s’articule autour de 7 points a savoir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1" dirty="0"/>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3</a:t>
            </a:fld>
            <a:endParaRPr lang="fr-FR" dirty="0"/>
          </a:p>
        </p:txBody>
      </p:sp>
    </p:spTree>
    <p:extLst>
      <p:ext uri="{BB962C8B-B14F-4D97-AF65-F5344CB8AC3E}">
        <p14:creationId xmlns:p14="http://schemas.microsoft.com/office/powerpoint/2010/main" val="4102695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kern="1200" dirty="0">
                <a:solidFill>
                  <a:schemeClr val="tx1"/>
                </a:solidFill>
                <a:effectLst/>
                <a:latin typeface="+mn-lt"/>
                <a:ea typeface="+mn-ea"/>
                <a:cs typeface="+mn-cs"/>
              </a:rPr>
              <a:t>Ouèdo est un arrondissement de la commune d’Abomey-Calavi dans le département de l’Atlantique situé entre 6°24’33’’ et 6°30’47’’ de latitude Nord, et entre 2°13’36’’ et 2°17’07’’ de longitude Est, avec une superficie de 289 km² (M. </a:t>
            </a:r>
            <a:r>
              <a:rPr lang="fr-FR" sz="1200" b="1" kern="1200" dirty="0" err="1">
                <a:solidFill>
                  <a:schemeClr val="tx1"/>
                </a:solidFill>
                <a:effectLst/>
                <a:latin typeface="+mn-lt"/>
                <a:ea typeface="+mn-ea"/>
                <a:cs typeface="+mn-cs"/>
              </a:rPr>
              <a:t>Zohoun</a:t>
            </a:r>
            <a:r>
              <a:rPr lang="fr-FR" sz="1200" b="1" kern="1200" dirty="0">
                <a:solidFill>
                  <a:schemeClr val="tx1"/>
                </a:solidFill>
                <a:effectLst/>
                <a:latin typeface="+mn-lt"/>
                <a:ea typeface="+mn-ea"/>
                <a:cs typeface="+mn-cs"/>
              </a:rPr>
              <a:t>, 2018, p. 22), il est limité au Nord par l’arrondissement de </a:t>
            </a:r>
            <a:r>
              <a:rPr lang="fr-FR" sz="1200" b="1" kern="1200" dirty="0" err="1">
                <a:solidFill>
                  <a:schemeClr val="tx1"/>
                </a:solidFill>
                <a:effectLst/>
                <a:latin typeface="+mn-lt"/>
                <a:ea typeface="+mn-ea"/>
                <a:cs typeface="+mn-cs"/>
              </a:rPr>
              <a:t>Glo-Djigbé</a:t>
            </a:r>
            <a:r>
              <a:rPr lang="fr-FR" sz="1200" b="1" kern="1200" dirty="0">
                <a:solidFill>
                  <a:schemeClr val="tx1"/>
                </a:solidFill>
                <a:effectLst/>
                <a:latin typeface="+mn-lt"/>
                <a:ea typeface="+mn-ea"/>
                <a:cs typeface="+mn-cs"/>
              </a:rPr>
              <a:t>, au Sud par l’arrondissement de </a:t>
            </a:r>
            <a:r>
              <a:rPr lang="fr-FR" sz="1200" b="1" kern="1200" dirty="0" err="1">
                <a:solidFill>
                  <a:schemeClr val="tx1"/>
                </a:solidFill>
                <a:effectLst/>
                <a:latin typeface="+mn-lt"/>
                <a:ea typeface="+mn-ea"/>
                <a:cs typeface="+mn-cs"/>
              </a:rPr>
              <a:t>Godomey</a:t>
            </a:r>
            <a:r>
              <a:rPr lang="fr-FR" sz="1200" b="1" kern="1200" dirty="0">
                <a:solidFill>
                  <a:schemeClr val="tx1"/>
                </a:solidFill>
                <a:effectLst/>
                <a:latin typeface="+mn-lt"/>
                <a:ea typeface="+mn-ea"/>
                <a:cs typeface="+mn-cs"/>
              </a:rPr>
              <a:t>, à l’Est par l’arrondissement de Togba, et à l’Ouest par celui </a:t>
            </a:r>
            <a:r>
              <a:rPr lang="fr-FR" sz="1200" b="1" kern="1200" dirty="0" err="1">
                <a:solidFill>
                  <a:schemeClr val="tx1"/>
                </a:solidFill>
                <a:effectLst/>
                <a:latin typeface="+mn-lt"/>
                <a:ea typeface="+mn-ea"/>
                <a:cs typeface="+mn-cs"/>
              </a:rPr>
              <a:t>Hêvié</a:t>
            </a:r>
            <a:r>
              <a:rPr lang="fr-FR" sz="1200" b="1" kern="1200" dirty="0">
                <a:solidFill>
                  <a:schemeClr val="tx1"/>
                </a:solidFill>
                <a:effectLst/>
                <a:latin typeface="+mn-lt"/>
                <a:ea typeface="+mn-ea"/>
                <a:cs typeface="+mn-cs"/>
              </a:rPr>
              <a:t>. L’arrondissement de Ouèdo est subdivisé en huit (08) villages et quartiers de ville, à savoir : </a:t>
            </a:r>
            <a:r>
              <a:rPr lang="fr-FR" sz="1200" b="1" kern="1200" dirty="0" err="1">
                <a:solidFill>
                  <a:schemeClr val="tx1"/>
                </a:solidFill>
                <a:effectLst/>
                <a:latin typeface="+mn-lt"/>
                <a:ea typeface="+mn-ea"/>
                <a:cs typeface="+mn-cs"/>
              </a:rPr>
              <a:t>Adjagbo</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Ahouato</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Allansakomey</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Dassèkomey</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Kpossidja</a:t>
            </a:r>
            <a:r>
              <a:rPr lang="fr-FR" sz="1200" b="1" kern="1200" dirty="0">
                <a:solidFill>
                  <a:schemeClr val="tx1"/>
                </a:solidFill>
                <a:effectLst/>
                <a:latin typeface="+mn-lt"/>
                <a:ea typeface="+mn-ea"/>
                <a:cs typeface="+mn-cs"/>
              </a:rPr>
              <a:t>, Ouèdo-Centre, </a:t>
            </a:r>
            <a:r>
              <a:rPr lang="fr-FR" sz="1200" b="1" kern="1200" dirty="0" err="1">
                <a:solidFill>
                  <a:schemeClr val="tx1"/>
                </a:solidFill>
                <a:effectLst/>
                <a:latin typeface="+mn-lt"/>
                <a:ea typeface="+mn-ea"/>
                <a:cs typeface="+mn-cs"/>
              </a:rPr>
              <a:t>Dessato</a:t>
            </a:r>
            <a:r>
              <a:rPr lang="fr-FR" sz="1200" b="1" kern="1200" dirty="0">
                <a:solidFill>
                  <a:schemeClr val="tx1"/>
                </a:solidFill>
                <a:effectLst/>
                <a:latin typeface="+mn-lt"/>
                <a:ea typeface="+mn-ea"/>
                <a:cs typeface="+mn-cs"/>
              </a:rPr>
              <a:t>, et </a:t>
            </a:r>
            <a:r>
              <a:rPr lang="fr-FR" sz="1200" b="1" kern="1200" dirty="0" err="1">
                <a:solidFill>
                  <a:schemeClr val="tx1"/>
                </a:solidFill>
                <a:effectLst/>
                <a:latin typeface="+mn-lt"/>
                <a:ea typeface="+mn-ea"/>
                <a:cs typeface="+mn-cs"/>
              </a:rPr>
              <a:t>Adjagbo-Aijedo</a:t>
            </a:r>
            <a:r>
              <a:rPr lang="fr-FR" sz="1200" kern="1200" dirty="0">
                <a:solidFill>
                  <a:schemeClr val="tx1"/>
                </a:solidFill>
                <a:effectLst/>
                <a:latin typeface="+mn-lt"/>
                <a:ea typeface="+mn-ea"/>
                <a:cs typeface="+mn-cs"/>
              </a:rPr>
              <a:t>.  </a:t>
            </a:r>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4</a:t>
            </a:fld>
            <a:endParaRPr lang="fr-FR"/>
          </a:p>
        </p:txBody>
      </p:sp>
    </p:spTree>
    <p:extLst>
      <p:ext uri="{BB962C8B-B14F-4D97-AF65-F5344CB8AC3E}">
        <p14:creationId xmlns:p14="http://schemas.microsoft.com/office/powerpoint/2010/main" val="3085977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Excellence Mr le Président du jury distingués membres du jury , ,,,,,,,,,,</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dirty="0"/>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5</a:t>
            </a:fld>
            <a:endParaRPr lang="fr-FR"/>
          </a:p>
        </p:txBody>
      </p:sp>
    </p:spTree>
    <p:extLst>
      <p:ext uri="{BB962C8B-B14F-4D97-AF65-F5344CB8AC3E}">
        <p14:creationId xmlns:p14="http://schemas.microsoft.com/office/powerpoint/2010/main" val="2279513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b="1" dirty="0"/>
              <a:t>Le présent sujet  repose sur les interrogations ci-après……….</a:t>
            </a:r>
            <a:endParaRPr lang="fr-FR" b="1"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6</a:t>
            </a:fld>
            <a:endParaRPr lang="fr-FR" dirty="0"/>
          </a:p>
        </p:txBody>
      </p:sp>
    </p:spTree>
    <p:extLst>
      <p:ext uri="{BB962C8B-B14F-4D97-AF65-F5344CB8AC3E}">
        <p14:creationId xmlns:p14="http://schemas.microsoft.com/office/powerpoint/2010/main" val="2498849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Pour aboutir a nos résultats des objectifs ont été fixé. L’objectif global de notre recherche est d’étudier </a:t>
            </a:r>
            <a:r>
              <a:rPr lang="fr-FR" b="1" dirty="0">
                <a:latin typeface="Times New Roman" panose="02020603050405020304" pitchFamily="18" charset="0"/>
                <a:cs typeface="Times New Roman" panose="02020603050405020304" pitchFamily="18" charset="0"/>
              </a:rPr>
              <a:t>la gestion des espaces verts au sein des logements sociaux de Ouèdo. </a:t>
            </a:r>
            <a:r>
              <a:rPr lang="fr-FR" b="1" dirty="0"/>
              <a:t>Ensuite de manière  spécifiques nous avons caractériser les espaces verts des logements sociaux et économiques</a:t>
            </a:r>
            <a:r>
              <a:rPr lang="fr-FR" b="0" dirty="0"/>
              <a:t>, </a:t>
            </a:r>
            <a:r>
              <a:rPr lang="fr-FR" sz="1200" b="1" dirty="0">
                <a:effectLst/>
                <a:latin typeface="Times New Roman" panose="02020603050405020304" pitchFamily="18" charset="0"/>
              </a:rPr>
              <a:t>a</a:t>
            </a:r>
            <a:r>
              <a:rPr lang="fr-FR" sz="1200" b="1" dirty="0">
                <a:effectLst/>
                <a:latin typeface="Times New Roman" panose="02020603050405020304" pitchFamily="18" charset="0"/>
                <a:ea typeface="Calibri" panose="020F0502020204030204" pitchFamily="34" charset="0"/>
              </a:rPr>
              <a:t>nalyser la politique mise en place pour la gestion des espaces verts au sein des logements sociaux et économiques de Ouèdo </a:t>
            </a:r>
            <a:r>
              <a:rPr lang="fr-FR" b="1" dirty="0"/>
              <a:t>et analyser la perception des riverains les logements sociaux et économique de </a:t>
            </a:r>
            <a:r>
              <a:rPr lang="fr-FR" b="1" dirty="0" err="1" smtClean="0"/>
              <a:t>Ouèdo</a:t>
            </a:r>
            <a:r>
              <a:rPr lang="fr-FR" b="1" dirty="0" smtClean="0"/>
              <a:t>, leurs </a:t>
            </a:r>
            <a:r>
              <a:rPr lang="fr-FR" b="1" dirty="0"/>
              <a:t>espaces verts et leur gestion.</a:t>
            </a: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7</a:t>
            </a:fld>
            <a:endParaRPr lang="fr-FR"/>
          </a:p>
        </p:txBody>
      </p:sp>
    </p:spTree>
    <p:extLst>
      <p:ext uri="{BB962C8B-B14F-4D97-AF65-F5344CB8AC3E}">
        <p14:creationId xmlns:p14="http://schemas.microsoft.com/office/powerpoint/2010/main" val="956233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dirty="0">
                <a:latin typeface="Times New Roman" panose="02020603050405020304" pitchFamily="18" charset="0"/>
                <a:cs typeface="Times New Roman" panose="02020603050405020304" pitchFamily="18" charset="0"/>
              </a:rPr>
              <a:t>Pour atteindre nos objectifs une approche méthodologique à été utilisé, elle a consisté a  la  collecte, le traitement et l’analyse des </a:t>
            </a:r>
            <a:r>
              <a:rPr lang="fr-FR" sz="2000" b="1" dirty="0" err="1">
                <a:latin typeface="Times New Roman" panose="02020603050405020304" pitchFamily="18" charset="0"/>
                <a:cs typeface="Times New Roman" panose="02020603050405020304" pitchFamily="18" charset="0"/>
              </a:rPr>
              <a:t>resultats</a:t>
            </a:r>
            <a:endParaRPr lang="fr-FR" sz="20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dirty="0">
                <a:latin typeface="Times New Roman" panose="02020603050405020304" pitchFamily="18" charset="0"/>
                <a:cs typeface="Times New Roman" panose="02020603050405020304" pitchFamily="18" charset="0"/>
              </a:rPr>
              <a:t>Les données utilisées sont…….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dirty="0">
                <a:latin typeface="Times New Roman" panose="02020603050405020304" pitchFamily="18" charset="0"/>
                <a:cs typeface="Times New Roman" panose="02020603050405020304" pitchFamily="18" charset="0"/>
              </a:rPr>
              <a:t>Pour la collecte un échantillon de 73 personnes ont été </a:t>
            </a:r>
            <a:r>
              <a:rPr lang="fr-FR" sz="2000" b="1" dirty="0" err="1">
                <a:latin typeface="Times New Roman" panose="02020603050405020304" pitchFamily="18" charset="0"/>
                <a:cs typeface="Times New Roman" panose="02020603050405020304" pitchFamily="18" charset="0"/>
              </a:rPr>
              <a:t>enquetées</a:t>
            </a:r>
            <a:r>
              <a:rPr lang="fr-FR" sz="2000" b="1" dirty="0">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dirty="0">
                <a:latin typeface="Times New Roman" panose="02020603050405020304" pitchFamily="18" charset="0"/>
                <a:cs typeface="Times New Roman" panose="02020603050405020304" pitchFamily="18" charset="0"/>
              </a:rPr>
              <a:t>Les </a:t>
            </a:r>
            <a:r>
              <a:rPr lang="fr-FR" sz="2000" b="1" dirty="0" err="1">
                <a:latin typeface="Times New Roman" panose="02020603050405020304" pitchFamily="18" charset="0"/>
                <a:cs typeface="Times New Roman" panose="02020603050405020304" pitchFamily="18" charset="0"/>
              </a:rPr>
              <a:t>Materiel</a:t>
            </a:r>
            <a:r>
              <a:rPr lang="fr-FR" sz="2000" b="1" dirty="0">
                <a:latin typeface="Times New Roman" panose="02020603050405020304" pitchFamily="18" charset="0"/>
                <a:cs typeface="Times New Roman" panose="02020603050405020304" pitchFamily="18" charset="0"/>
              </a:rPr>
              <a:t> et Outils de collecte des données comprennent …………………………..</a:t>
            </a: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8</a:t>
            </a:fld>
            <a:endParaRPr lang="fr-FR"/>
          </a:p>
        </p:txBody>
      </p:sp>
    </p:spTree>
    <p:extLst>
      <p:ext uri="{BB962C8B-B14F-4D97-AF65-F5344CB8AC3E}">
        <p14:creationId xmlns:p14="http://schemas.microsoft.com/office/powerpoint/2010/main" val="1567639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latin typeface="Times New Roman" panose="02020603050405020304" pitchFamily="18" charset="0"/>
                <a:cs typeface="Times New Roman" panose="02020603050405020304" pitchFamily="18" charset="0"/>
              </a:rPr>
              <a:t>Les techniques de collecte des données sont……………………………………..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a:latin typeface="Times New Roman" panose="02020603050405020304" pitchFamily="18" charset="0"/>
                <a:cs typeface="Times New Roman" panose="02020603050405020304" pitchFamily="18" charset="0"/>
              </a:rPr>
              <a:t>Quant au traitement et analyses des données il a été utilisé</a:t>
            </a: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9</a:t>
            </a:fld>
            <a:endParaRPr lang="fr-FR"/>
          </a:p>
        </p:txBody>
      </p:sp>
    </p:spTree>
    <p:extLst>
      <p:ext uri="{BB962C8B-B14F-4D97-AF65-F5344CB8AC3E}">
        <p14:creationId xmlns:p14="http://schemas.microsoft.com/office/powerpoint/2010/main" val="3553857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Excellence Mr le président du jury Distingués membres du jury cette approche méthodologique nous a permis d’obtenir les résultats ci après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Les </a:t>
            </a:r>
            <a:r>
              <a:rPr lang="fr-FR" b="1" dirty="0" err="1"/>
              <a:t>premièrs</a:t>
            </a:r>
            <a:r>
              <a:rPr lang="fr-FR" b="1" dirty="0"/>
              <a:t> résultats sont relatives a la caractérisation des espaces  verts de la nouvelle cité de Ouèdo.</a:t>
            </a:r>
            <a:r>
              <a:rPr lang="fr-FR" sz="900" kern="1200" dirty="0">
                <a:solidFill>
                  <a:schemeClr val="tx1"/>
                </a:solidFill>
                <a:effectLst/>
                <a:latin typeface="+mn-lt"/>
                <a:ea typeface="+mn-ea"/>
                <a:cs typeface="+mn-cs"/>
              </a:rPr>
              <a:t> </a:t>
            </a:r>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10</a:t>
            </a:fld>
            <a:endParaRPr lang="fr-FR"/>
          </a:p>
        </p:txBody>
      </p:sp>
    </p:spTree>
    <p:extLst>
      <p:ext uri="{BB962C8B-B14F-4D97-AF65-F5344CB8AC3E}">
        <p14:creationId xmlns:p14="http://schemas.microsoft.com/office/powerpoint/2010/main" val="33550256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kern="1200" dirty="0">
                <a:solidFill>
                  <a:schemeClr val="tx1"/>
                </a:solidFill>
                <a:effectLst/>
                <a:latin typeface="Times New Roman" panose="02020603050405020304" pitchFamily="18" charset="0"/>
                <a:ea typeface="+mn-ea"/>
                <a:cs typeface="Times New Roman" panose="02020603050405020304" pitchFamily="18" charset="0"/>
              </a:rPr>
              <a:t>Dans la nouvelle Cité de </a:t>
            </a:r>
            <a:r>
              <a:rPr lang="fr-FR" sz="1200" b="1" kern="1200" dirty="0" err="1">
                <a:solidFill>
                  <a:schemeClr val="tx1"/>
                </a:solidFill>
                <a:effectLst/>
                <a:latin typeface="Times New Roman" panose="02020603050405020304" pitchFamily="18" charset="0"/>
                <a:ea typeface="+mn-ea"/>
                <a:cs typeface="Times New Roman" panose="02020603050405020304" pitchFamily="18" charset="0"/>
              </a:rPr>
              <a:t>Ouèdo,nous</a:t>
            </a:r>
            <a:r>
              <a:rPr lang="fr-FR" sz="1200" b="1" kern="1200" dirty="0">
                <a:solidFill>
                  <a:schemeClr val="tx1"/>
                </a:solidFill>
                <a:effectLst/>
                <a:latin typeface="Times New Roman" panose="02020603050405020304" pitchFamily="18" charset="0"/>
                <a:ea typeface="+mn-ea"/>
                <a:cs typeface="Times New Roman" panose="02020603050405020304" pitchFamily="18" charset="0"/>
              </a:rPr>
              <a:t> avons</a:t>
            </a:r>
            <a:r>
              <a:rPr lang="fr-FR" sz="900" kern="1200" dirty="0">
                <a:solidFill>
                  <a:schemeClr val="tx1"/>
                </a:solidFill>
                <a:effectLst/>
                <a:latin typeface="+mn-lt"/>
                <a:ea typeface="+mn-ea"/>
                <a:cs typeface="+mn-cs"/>
              </a:rPr>
              <a:t> </a:t>
            </a:r>
            <a:r>
              <a:rPr lang="fr-FR" sz="1200" b="1" kern="1200" dirty="0">
                <a:solidFill>
                  <a:schemeClr val="tx1"/>
                </a:solidFill>
                <a:effectLst/>
                <a:latin typeface="Times New Roman" panose="02020603050405020304" pitchFamily="18" charset="0"/>
                <a:ea typeface="+mn-ea"/>
                <a:cs typeface="Times New Roman" panose="02020603050405020304" pitchFamily="18" charset="0"/>
              </a:rPr>
              <a:t>un espace vert de type arbres d’alignement de voirie (1a) qui sont des arbres plantés le long des routes ; un espace vert de type jardins (1c) est un espace conçu et organisé pour accueillir des plantes à fin esthétiques et récréative et un espace vert de type espaces verts d’accompagnement d’habitation (1d) et (1b) sont des espaces ayant pour fonction l’accompagnement et la mise en valeur des logements . </a:t>
            </a: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11</a:t>
            </a:fld>
            <a:endParaRPr lang="fr-FR"/>
          </a:p>
        </p:txBody>
      </p:sp>
    </p:spTree>
    <p:extLst>
      <p:ext uri="{BB962C8B-B14F-4D97-AF65-F5344CB8AC3E}">
        <p14:creationId xmlns:p14="http://schemas.microsoft.com/office/powerpoint/2010/main" val="3030294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dirty="0">
                <a:latin typeface="Times New Roman" panose="02020603050405020304" pitchFamily="18" charset="0"/>
                <a:cs typeface="Times New Roman" panose="02020603050405020304" pitchFamily="18" charset="0"/>
              </a:rPr>
              <a:t>Honorables membre du jury, nos investigations ont montré que </a:t>
            </a:r>
            <a:r>
              <a:rPr lang="fr-FR" sz="1800" b="1" kern="1200" dirty="0">
                <a:solidFill>
                  <a:schemeClr val="tx1"/>
                </a:solidFill>
                <a:effectLst/>
                <a:latin typeface="Times New Roman" panose="02020603050405020304" pitchFamily="18" charset="0"/>
                <a:ea typeface="+mn-ea"/>
                <a:cs typeface="Times New Roman" panose="02020603050405020304" pitchFamily="18" charset="0"/>
              </a:rPr>
              <a:t>les espaces de la cité nouvelle de Ouèdo sont principalement destinés aux promenades et aux loisirs (87%), les jeux (75%) et l’ombrage (25%). </a:t>
            </a:r>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12</a:t>
            </a:fld>
            <a:endParaRPr lang="fr-FR"/>
          </a:p>
        </p:txBody>
      </p:sp>
    </p:spTree>
    <p:extLst>
      <p:ext uri="{BB962C8B-B14F-4D97-AF65-F5344CB8AC3E}">
        <p14:creationId xmlns:p14="http://schemas.microsoft.com/office/powerpoint/2010/main" val="4262715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dirty="0">
                <a:latin typeface="Times New Roman" panose="02020603050405020304" pitchFamily="18" charset="0"/>
                <a:cs typeface="Times New Roman" panose="02020603050405020304" pitchFamily="18" charset="0"/>
              </a:rPr>
              <a:t>Ensuite nous avons aborder la richesse floristique ,,,,,,, voici quelques photos des </a:t>
            </a:r>
            <a:r>
              <a:rPr lang="fr-FR" sz="2000" b="1" dirty="0" err="1">
                <a:latin typeface="Times New Roman" panose="02020603050405020304" pitchFamily="18" charset="0"/>
                <a:cs typeface="Times New Roman" panose="02020603050405020304" pitchFamily="18" charset="0"/>
              </a:rPr>
              <a:t>especes</a:t>
            </a:r>
            <a:r>
              <a:rPr lang="fr-FR" sz="2000" b="1" dirty="0">
                <a:latin typeface="Times New Roman" panose="02020603050405020304" pitchFamily="18" charset="0"/>
                <a:cs typeface="Times New Roman" panose="02020603050405020304" pitchFamily="18" charset="0"/>
              </a:rPr>
              <a:t> que l’on retrouve dans la cité nouvelle de </a:t>
            </a:r>
            <a:r>
              <a:rPr lang="fr-FR" sz="2000" b="1" dirty="0" err="1">
                <a:latin typeface="Times New Roman" panose="02020603050405020304" pitchFamily="18" charset="0"/>
                <a:cs typeface="Times New Roman" panose="02020603050405020304" pitchFamily="18" charset="0"/>
              </a:rPr>
              <a:t>Ouèdo</a:t>
            </a:r>
            <a:r>
              <a:rPr lang="fr-FR" sz="2000" b="1" dirty="0">
                <a:latin typeface="Times New Roman" panose="02020603050405020304" pitchFamily="18" charset="0"/>
                <a:cs typeface="Times New Roman" panose="02020603050405020304" pitchFamily="18" charset="0"/>
              </a:rPr>
              <a:t> comme l’indique les photos 1,2,3 suivantes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13</a:t>
            </a:fld>
            <a:endParaRPr lang="fr-FR"/>
          </a:p>
        </p:txBody>
      </p:sp>
    </p:spTree>
    <p:extLst>
      <p:ext uri="{BB962C8B-B14F-4D97-AF65-F5344CB8AC3E}">
        <p14:creationId xmlns:p14="http://schemas.microsoft.com/office/powerpoint/2010/main" val="2005277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2000" b="1" dirty="0"/>
              <a:t>Honorables membres du jury le deuxième résultat porte sur  la politique de gestion des espaces verts de la nouvelle cité de Ouèdo. De l’analyse de ce tableau trois </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entreprises privées(Nexus </a:t>
            </a:r>
            <a:r>
              <a:rPr lang="fr-FR" sz="2000" b="1" kern="1200" dirty="0" err="1">
                <a:solidFill>
                  <a:schemeClr val="tx1"/>
                </a:solidFill>
                <a:effectLst/>
                <a:latin typeface="Times New Roman" panose="02020603050405020304" pitchFamily="18" charset="0"/>
                <a:ea typeface="+mn-ea"/>
                <a:cs typeface="Times New Roman" panose="02020603050405020304" pitchFamily="18" charset="0"/>
              </a:rPr>
              <a:t>Floral,Main</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 </a:t>
            </a:r>
            <a:r>
              <a:rPr lang="fr-FR" sz="2000" b="1" kern="1200" dirty="0" err="1">
                <a:solidFill>
                  <a:schemeClr val="tx1"/>
                </a:solidFill>
                <a:effectLst/>
                <a:latin typeface="Times New Roman" panose="02020603050405020304" pitchFamily="18" charset="0"/>
                <a:ea typeface="+mn-ea"/>
                <a:cs typeface="Times New Roman" panose="02020603050405020304" pitchFamily="18" charset="0"/>
              </a:rPr>
              <a:t>Verte,SIBI</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 sont directement chargées de la </a:t>
            </a:r>
            <a:r>
              <a:rPr lang="fr-FR" sz="2000" b="1" kern="1200" dirty="0" err="1">
                <a:solidFill>
                  <a:schemeClr val="tx1"/>
                </a:solidFill>
                <a:effectLst/>
                <a:latin typeface="Times New Roman" panose="02020603050405020304" pitchFamily="18" charset="0"/>
                <a:ea typeface="+mn-ea"/>
                <a:cs typeface="Times New Roman" panose="02020603050405020304" pitchFamily="18" charset="0"/>
              </a:rPr>
              <a:t>conception,de</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 la réalisation et de l’entretien des espaces verts avec des superficies bien définies. </a:t>
            </a:r>
          </a:p>
          <a:p>
            <a:r>
              <a:rPr lang="fr-FR" sz="2000" b="1" kern="1200" dirty="0">
                <a:solidFill>
                  <a:schemeClr val="tx1"/>
                </a:solidFill>
                <a:effectLst/>
                <a:latin typeface="Times New Roman" panose="02020603050405020304" pitchFamily="18" charset="0"/>
                <a:ea typeface="+mn-ea"/>
                <a:cs typeface="Times New Roman" panose="02020603050405020304" pitchFamily="18" charset="0"/>
              </a:rPr>
              <a:t>En complément, les structures publiques </a:t>
            </a:r>
            <a:r>
              <a:rPr lang="fr-FR" sz="2000" b="1" kern="1200" dirty="0" err="1">
                <a:solidFill>
                  <a:schemeClr val="tx1"/>
                </a:solidFill>
                <a:effectLst/>
                <a:latin typeface="Times New Roman" panose="02020603050405020304" pitchFamily="18" charset="0"/>
                <a:ea typeface="+mn-ea"/>
                <a:cs typeface="Times New Roman" panose="02020603050405020304" pitchFamily="18" charset="0"/>
              </a:rPr>
              <a:t>SimAU</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 et l’</a:t>
            </a:r>
            <a:r>
              <a:rPr lang="fr-FR" sz="2000" b="1" kern="1200" dirty="0" err="1">
                <a:solidFill>
                  <a:schemeClr val="tx1"/>
                </a:solidFill>
                <a:effectLst/>
                <a:latin typeface="Times New Roman" panose="02020603050405020304" pitchFamily="18" charset="0"/>
                <a:ea typeface="+mn-ea"/>
                <a:cs typeface="Times New Roman" panose="02020603050405020304" pitchFamily="18" charset="0"/>
              </a:rPr>
              <a:t>ANaP</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 </a:t>
            </a:r>
            <a:r>
              <a:rPr lang="fr-FR" sz="2000" b="1" kern="1200" dirty="0" err="1">
                <a:solidFill>
                  <a:schemeClr val="tx1"/>
                </a:solidFill>
                <a:effectLst/>
                <a:latin typeface="Times New Roman" panose="02020603050405020304" pitchFamily="18" charset="0"/>
                <a:ea typeface="+mn-ea"/>
                <a:cs typeface="Times New Roman" panose="02020603050405020304" pitchFamily="18" charset="0"/>
              </a:rPr>
              <a:t>controlentt</a:t>
            </a:r>
            <a:r>
              <a:rPr lang="fr-FR" sz="2000" b="1" kern="1200" dirty="0">
                <a:solidFill>
                  <a:schemeClr val="tx1"/>
                </a:solidFill>
                <a:effectLst/>
                <a:latin typeface="Times New Roman" panose="02020603050405020304" pitchFamily="18" charset="0"/>
                <a:ea typeface="+mn-ea"/>
                <a:cs typeface="Times New Roman" panose="02020603050405020304" pitchFamily="18" charset="0"/>
              </a:rPr>
              <a:t> les travaux et l’aménagement </a:t>
            </a:r>
            <a:r>
              <a:rPr lang="fr-BE" sz="2000" b="1" kern="1200" dirty="0">
                <a:solidFill>
                  <a:schemeClr val="tx1"/>
                </a:solidFill>
                <a:effectLst/>
                <a:latin typeface="Times New Roman" panose="02020603050405020304" pitchFamily="18" charset="0"/>
                <a:ea typeface="+mn-ea"/>
                <a:cs typeface="Times New Roman" panose="02020603050405020304" pitchFamily="18" charset="0"/>
              </a:rPr>
              <a:t>du site </a:t>
            </a:r>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14</a:t>
            </a:fld>
            <a:endParaRPr lang="fr-FR"/>
          </a:p>
        </p:txBody>
      </p:sp>
    </p:spTree>
    <p:extLst>
      <p:ext uri="{BB962C8B-B14F-4D97-AF65-F5344CB8AC3E}">
        <p14:creationId xmlns:p14="http://schemas.microsoft.com/office/powerpoint/2010/main" val="21178978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tx1"/>
                </a:solidFill>
                <a:effectLst/>
                <a:latin typeface="Times New Roman" panose="02020603050405020304" pitchFamily="18" charset="0"/>
                <a:ea typeface="+mn-ea"/>
                <a:cs typeface="Times New Roman" panose="02020603050405020304" pitchFamily="18" charset="0"/>
              </a:rPr>
              <a:t>Dans le cadre de l’entretien des espaces verts des logements sociaux et économiques de Ouèdo, diverses activités sont menées telles que la taille de formation (3a), le bordurage (3 b), la plantation d’arbre (1c) et le désherbage (3d). </a:t>
            </a:r>
            <a:r>
              <a:rPr lang="fr-FR" sz="1800" b="1" dirty="0">
                <a:latin typeface="Times New Roman" panose="02020603050405020304" pitchFamily="18" charset="0"/>
                <a:cs typeface="Times New Roman" panose="02020603050405020304" pitchFamily="18" charset="0"/>
              </a:rPr>
              <a:t>voici une planche qui illustre les activités d’entretien menées</a:t>
            </a:r>
            <a:endParaRPr lang="fr-FR" sz="1800" b="1" kern="1200" dirty="0">
              <a:solidFill>
                <a:schemeClr val="tx1"/>
              </a:solidFill>
              <a:effectLst/>
              <a:latin typeface="Times New Roman" panose="02020603050405020304" pitchFamily="18" charset="0"/>
              <a:ea typeface="+mn-ea"/>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15</a:t>
            </a:fld>
            <a:endParaRPr lang="fr-FR"/>
          </a:p>
        </p:txBody>
      </p:sp>
    </p:spTree>
    <p:extLst>
      <p:ext uri="{BB962C8B-B14F-4D97-AF65-F5344CB8AC3E}">
        <p14:creationId xmlns:p14="http://schemas.microsoft.com/office/powerpoint/2010/main" val="3485600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tx1"/>
                </a:solidFill>
                <a:effectLst/>
                <a:latin typeface="Times New Roman" panose="02020603050405020304" pitchFamily="18" charset="0"/>
                <a:ea typeface="+mn-ea"/>
                <a:cs typeface="Times New Roman" panose="02020603050405020304" pitchFamily="18" charset="0"/>
              </a:rPr>
              <a:t>Honorable membre du Jury ,plusieurs difficultés sont rencontrées par  les agents d’entretien et les représentants des sociétés en charge de la gestion 81,25% des principales difficultés sont liées à l’insuffisance de matériels;50% aux problèmes organisationnels; 37 ,5% à la mauvaise foi de certains agents suivi des pannes des matériels et du manque de ressource humaine (6,25%). </a:t>
            </a: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16</a:t>
            </a:fld>
            <a:endParaRPr lang="fr-FR"/>
          </a:p>
        </p:txBody>
      </p:sp>
    </p:spTree>
    <p:extLst>
      <p:ext uri="{BB962C8B-B14F-4D97-AF65-F5344CB8AC3E}">
        <p14:creationId xmlns:p14="http://schemas.microsoft.com/office/powerpoint/2010/main" val="3952466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1000"/>
              </a:spcAft>
              <a:buClrTx/>
              <a:buSzTx/>
              <a:buFontTx/>
              <a:buNone/>
              <a:tabLst>
                <a:tab pos="1614805" algn="l"/>
              </a:tabLst>
              <a:defRPr/>
            </a:pPr>
            <a:r>
              <a:rPr lang="fr-FR" sz="2000" b="1" dirty="0">
                <a:latin typeface="Times New Roman" panose="02020603050405020304" pitchFamily="18" charset="0"/>
                <a:cs typeface="Times New Roman" panose="02020603050405020304" pitchFamily="18" charset="0"/>
              </a:rPr>
              <a:t>Honorables membres du jury le troisième résultat porte sur la Perception des riverains sur les logements et les espaces verts de la nouvelle cité de Ouèdo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kern="1200" dirty="0">
                <a:solidFill>
                  <a:schemeClr val="tx1"/>
                </a:solidFill>
                <a:effectLst/>
                <a:latin typeface="Times New Roman" panose="02020603050405020304" pitchFamily="18" charset="0"/>
                <a:ea typeface="+mn-ea"/>
                <a:cs typeface="Times New Roman" panose="02020603050405020304" pitchFamily="18" charset="0"/>
              </a:rPr>
              <a:t>Parlant des appréciations 94 % des riverains sont très satisfaits des espaces verts de Ouèdo, 4 % sont satisfaits, tandis que 2 % se dit peu satisfait.</a:t>
            </a: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17</a:t>
            </a:fld>
            <a:endParaRPr lang="fr-FR"/>
          </a:p>
        </p:txBody>
      </p:sp>
    </p:spTree>
    <p:extLst>
      <p:ext uri="{BB962C8B-B14F-4D97-AF65-F5344CB8AC3E}">
        <p14:creationId xmlns:p14="http://schemas.microsoft.com/office/powerpoint/2010/main" val="1108103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dirty="0">
                <a:latin typeface="Times New Roman" panose="02020603050405020304" pitchFamily="18" charset="0"/>
                <a:cs typeface="Times New Roman" panose="02020603050405020304" pitchFamily="18" charset="0"/>
              </a:rPr>
              <a:t>Excellence M. le président</a:t>
            </a:r>
            <a:r>
              <a:rPr lang="fr-FR" sz="2000" b="1" baseline="0" dirty="0">
                <a:latin typeface="Times New Roman" panose="02020603050405020304" pitchFamily="18" charset="0"/>
                <a:cs typeface="Times New Roman" panose="02020603050405020304" pitchFamily="18" charset="0"/>
              </a:rPr>
              <a:t> du jury, honorables membres du jury, en conclusion, il faut retenir que </a:t>
            </a:r>
            <a:endParaRPr lang="fr-FR" sz="2000" b="1" dirty="0">
              <a:latin typeface="Times New Roman" panose="02020603050405020304" pitchFamily="18"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18</a:t>
            </a:fld>
            <a:endParaRPr lang="fr-FR"/>
          </a:p>
        </p:txBody>
      </p:sp>
    </p:spTree>
    <p:extLst>
      <p:ext uri="{BB962C8B-B14F-4D97-AF65-F5344CB8AC3E}">
        <p14:creationId xmlns:p14="http://schemas.microsoft.com/office/powerpoint/2010/main" val="28055707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Comme suggestions …………</a:t>
            </a:r>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19</a:t>
            </a:fld>
            <a:endParaRPr lang="fr-FR"/>
          </a:p>
        </p:txBody>
      </p:sp>
    </p:spTree>
    <p:extLst>
      <p:ext uri="{BB962C8B-B14F-4D97-AF65-F5344CB8AC3E}">
        <p14:creationId xmlns:p14="http://schemas.microsoft.com/office/powerpoint/2010/main" val="3038038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a:latin typeface="Times New Roman" panose="02020603050405020304" pitchFamily="18" charset="0"/>
                <a:cs typeface="Times New Roman" panose="02020603050405020304" pitchFamily="18" charset="0"/>
              </a:rPr>
              <a:t>Excellence M. le président du jury, </a:t>
            </a:r>
            <a:r>
              <a:rPr lang="fr-FR" sz="1800" b="1" kern="1200" dirty="0">
                <a:solidFill>
                  <a:schemeClr val="tx1"/>
                </a:solidFill>
                <a:effectLst/>
                <a:latin typeface="Times New Roman" panose="02020603050405020304" pitchFamily="18" charset="0"/>
                <a:ea typeface="+mn-ea"/>
                <a:cs typeface="Times New Roman" panose="02020603050405020304" pitchFamily="18" charset="0"/>
              </a:rPr>
              <a:t>Honorables membres du jury</a:t>
            </a:r>
            <a:r>
              <a:rPr lang="fr-FR" sz="1800" b="1" dirty="0">
                <a:latin typeface="Times New Roman" panose="02020603050405020304" pitchFamily="18" charset="0"/>
                <a:cs typeface="Times New Roman" panose="02020603050405020304" pitchFamily="18" charset="0"/>
              </a:rPr>
              <a:t>, nous voici à la fin de notre</a:t>
            </a:r>
            <a:r>
              <a:rPr lang="fr-FR" sz="1800" b="1" baseline="0" dirty="0">
                <a:latin typeface="Times New Roman" panose="02020603050405020304" pitchFamily="18" charset="0"/>
                <a:cs typeface="Times New Roman" panose="02020603050405020304" pitchFamily="18" charset="0"/>
              </a:rPr>
              <a:t> présentation. Vos remarques et observations sont les bienvenues afin d’améliorer la qualité scientifique de ce travail. Nous vous remercions!!!</a:t>
            </a:r>
            <a:endParaRPr lang="fr-FR" sz="1800" b="1" dirty="0">
              <a:latin typeface="Times New Roman" panose="02020603050405020304" pitchFamily="18"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37899911-CF93-45D0-BC05-B3815F7BD6F0}" type="slidenum">
              <a:rPr lang="fr-FR" smtClean="0"/>
              <a:t>20</a:t>
            </a:fld>
            <a:endParaRPr lang="fr-FR" dirty="0"/>
          </a:p>
        </p:txBody>
      </p:sp>
    </p:spTree>
    <p:extLst>
      <p:ext uri="{BB962C8B-B14F-4D97-AF65-F5344CB8AC3E}">
        <p14:creationId xmlns:p14="http://schemas.microsoft.com/office/powerpoint/2010/main" val="2296735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E491080-4A9E-9CFF-98CD-DF862ABF678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 xmlns:a16="http://schemas.microsoft.com/office/drawing/2014/main" id="{A237EE0A-934F-D8C9-3E76-CD4510607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 xmlns:a16="http://schemas.microsoft.com/office/drawing/2014/main" id="{276C59C0-2693-6997-96CC-95923BD26F81}"/>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5" name="Espace réservé du pied de page 4">
            <a:extLst>
              <a:ext uri="{FF2B5EF4-FFF2-40B4-BE49-F238E27FC236}">
                <a16:creationId xmlns="" xmlns:a16="http://schemas.microsoft.com/office/drawing/2014/main" id="{0C3C6EEB-D897-AB8B-3283-40F4974055D1}"/>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 xmlns:a16="http://schemas.microsoft.com/office/drawing/2014/main" id="{3B288D7E-B35B-6702-06A7-279606CB5654}"/>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465267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24CB6EA-381C-47AE-ACD2-A2E7450A7B2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 xmlns:a16="http://schemas.microsoft.com/office/drawing/2014/main" id="{515B803B-A6B8-D93E-D842-0773A0C9526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 xmlns:a16="http://schemas.microsoft.com/office/drawing/2014/main" id="{4633EA72-714D-47A0-0E98-C2C47F5BB8ED}"/>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5" name="Espace réservé du pied de page 4">
            <a:extLst>
              <a:ext uri="{FF2B5EF4-FFF2-40B4-BE49-F238E27FC236}">
                <a16:creationId xmlns="" xmlns:a16="http://schemas.microsoft.com/office/drawing/2014/main" id="{46226D6D-A02D-AB21-C4B4-0E034042EF3E}"/>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 xmlns:a16="http://schemas.microsoft.com/office/drawing/2014/main" id="{230545EC-B512-DC38-67B1-213301DAD64F}"/>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995269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772E19A-6C35-03B8-8345-3F8DF276905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 xmlns:a16="http://schemas.microsoft.com/office/drawing/2014/main" id="{44E24C20-2EB0-6B86-21A3-CD5E9146D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 xmlns:a16="http://schemas.microsoft.com/office/drawing/2014/main" id="{7801AF57-ABE0-3D02-07DD-31E3DE3BA6E3}"/>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5" name="Espace réservé du pied de page 4">
            <a:extLst>
              <a:ext uri="{FF2B5EF4-FFF2-40B4-BE49-F238E27FC236}">
                <a16:creationId xmlns="" xmlns:a16="http://schemas.microsoft.com/office/drawing/2014/main" id="{185B0F78-9BCF-0C63-D482-D30EC598D3D0}"/>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 xmlns:a16="http://schemas.microsoft.com/office/drawing/2014/main" id="{E46CAA99-C5D8-EBB8-E802-6CD388223179}"/>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362528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E58BA0D-31C3-E8F0-5B73-B0780B224D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 xmlns:a16="http://schemas.microsoft.com/office/drawing/2014/main" id="{6AD35DB4-F483-7776-5866-39E01833337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 xmlns:a16="http://schemas.microsoft.com/office/drawing/2014/main" id="{43A2ACC4-503B-7E42-EF10-AA7BEA05E55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 xmlns:a16="http://schemas.microsoft.com/office/drawing/2014/main" id="{077028AB-8DB9-6B02-B4A8-D04943D183A1}"/>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6" name="Espace réservé du pied de page 5">
            <a:extLst>
              <a:ext uri="{FF2B5EF4-FFF2-40B4-BE49-F238E27FC236}">
                <a16:creationId xmlns="" xmlns:a16="http://schemas.microsoft.com/office/drawing/2014/main" id="{786C2262-73FC-61E8-AC8B-900FF3D2087C}"/>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 xmlns:a16="http://schemas.microsoft.com/office/drawing/2014/main" id="{64DBE623-0037-E088-C776-48047D5C5A0E}"/>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2064272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79D0DE0-A297-BA42-E104-BE986310806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 xmlns:a16="http://schemas.microsoft.com/office/drawing/2014/main" id="{1677545C-38B5-232B-1246-6F1A873CFD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 xmlns:a16="http://schemas.microsoft.com/office/drawing/2014/main" id="{FFED71F2-A9D6-2DE5-5B48-02AC367718D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 xmlns:a16="http://schemas.microsoft.com/office/drawing/2014/main" id="{0716CF8B-1C9D-0D4D-7FD6-A1E75A1CAB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 xmlns:a16="http://schemas.microsoft.com/office/drawing/2014/main" id="{DDF1298C-56E8-FCB0-B0B4-CDE4575DF01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 xmlns:a16="http://schemas.microsoft.com/office/drawing/2014/main" id="{ABB22A6E-1BE8-7DAD-FDC7-3A4B274DBCFA}"/>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8" name="Espace réservé du pied de page 7">
            <a:extLst>
              <a:ext uri="{FF2B5EF4-FFF2-40B4-BE49-F238E27FC236}">
                <a16:creationId xmlns="" xmlns:a16="http://schemas.microsoft.com/office/drawing/2014/main" id="{0E8D54FD-D41E-B520-DA1B-8034C39556B9}"/>
              </a:ext>
            </a:extLst>
          </p:cNvPr>
          <p:cNvSpPr>
            <a:spLocks noGrp="1"/>
          </p:cNvSpPr>
          <p:nvPr>
            <p:ph type="ftr" sz="quarter" idx="11"/>
          </p:nvPr>
        </p:nvSpPr>
        <p:spPr/>
        <p:txBody>
          <a:bodyPr/>
          <a:lstStyle/>
          <a:p>
            <a:endParaRPr lang="fr-FR" dirty="0"/>
          </a:p>
        </p:txBody>
      </p:sp>
      <p:sp>
        <p:nvSpPr>
          <p:cNvPr id="9" name="Espace réservé du numéro de diapositive 8">
            <a:extLst>
              <a:ext uri="{FF2B5EF4-FFF2-40B4-BE49-F238E27FC236}">
                <a16:creationId xmlns="" xmlns:a16="http://schemas.microsoft.com/office/drawing/2014/main" id="{7514ED93-B314-7DFC-4D5B-32F99A7F5C64}"/>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143097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89EE2514-BB7A-4EC7-3AA9-8FFBF2F41B5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 xmlns:a16="http://schemas.microsoft.com/office/drawing/2014/main" id="{31154E2B-006A-46A5-3A4D-35A73299C0F5}"/>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4" name="Espace réservé du pied de page 3">
            <a:extLst>
              <a:ext uri="{FF2B5EF4-FFF2-40B4-BE49-F238E27FC236}">
                <a16:creationId xmlns="" xmlns:a16="http://schemas.microsoft.com/office/drawing/2014/main" id="{365785A1-5AE4-4CC6-DCA2-89A385684636}"/>
              </a:ext>
            </a:extLst>
          </p:cNvPr>
          <p:cNvSpPr>
            <a:spLocks noGrp="1"/>
          </p:cNvSpPr>
          <p:nvPr>
            <p:ph type="ftr" sz="quarter" idx="11"/>
          </p:nvPr>
        </p:nvSpPr>
        <p:spPr/>
        <p:txBody>
          <a:bodyPr/>
          <a:lstStyle/>
          <a:p>
            <a:endParaRPr lang="fr-FR" dirty="0"/>
          </a:p>
        </p:txBody>
      </p:sp>
      <p:sp>
        <p:nvSpPr>
          <p:cNvPr id="5" name="Espace réservé du numéro de diapositive 4">
            <a:extLst>
              <a:ext uri="{FF2B5EF4-FFF2-40B4-BE49-F238E27FC236}">
                <a16:creationId xmlns="" xmlns:a16="http://schemas.microsoft.com/office/drawing/2014/main" id="{48B6C52A-5966-E418-B8BB-55F0DD0975A9}"/>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106594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 xmlns:a16="http://schemas.microsoft.com/office/drawing/2014/main" id="{43E86EFF-4546-172F-BBA1-3765A1FCC569}"/>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3" name="Espace réservé du pied de page 2">
            <a:extLst>
              <a:ext uri="{FF2B5EF4-FFF2-40B4-BE49-F238E27FC236}">
                <a16:creationId xmlns="" xmlns:a16="http://schemas.microsoft.com/office/drawing/2014/main" id="{F92E99FF-C3C3-1014-8DED-20FD70D5A0E0}"/>
              </a:ext>
            </a:extLst>
          </p:cNvPr>
          <p:cNvSpPr>
            <a:spLocks noGrp="1"/>
          </p:cNvSpPr>
          <p:nvPr>
            <p:ph type="ftr" sz="quarter" idx="1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7601885B-5D28-590B-2D4B-AB00BDA0BE05}"/>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2483228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181936DA-697C-E3E7-90EF-2AA5811BACD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 xmlns:a16="http://schemas.microsoft.com/office/drawing/2014/main" id="{4B781946-8767-5543-C4DD-DDA96FF7E0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 xmlns:a16="http://schemas.microsoft.com/office/drawing/2014/main" id="{3ED0DBD2-283D-00AC-3DF2-D34275F13C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 xmlns:a16="http://schemas.microsoft.com/office/drawing/2014/main" id="{5D403DF1-E6E7-5A84-72BD-BDD5BF01D1BC}"/>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6" name="Espace réservé du pied de page 5">
            <a:extLst>
              <a:ext uri="{FF2B5EF4-FFF2-40B4-BE49-F238E27FC236}">
                <a16:creationId xmlns="" xmlns:a16="http://schemas.microsoft.com/office/drawing/2014/main" id="{B8545E96-B720-A9C1-D543-DB4F6962A062}"/>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 xmlns:a16="http://schemas.microsoft.com/office/drawing/2014/main" id="{85739621-4FDF-CB9C-350C-CF54B3AEF152}"/>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2633990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4539E76-695E-ADA0-4C5B-835DFAA1CA5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 xmlns:a16="http://schemas.microsoft.com/office/drawing/2014/main" id="{0D97DB70-E4D5-DCF7-95BA-136018A9B6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 xmlns:a16="http://schemas.microsoft.com/office/drawing/2014/main" id="{A9AA8141-B6FE-738F-4EAC-52770D746B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 xmlns:a16="http://schemas.microsoft.com/office/drawing/2014/main" id="{ABE1E061-8F2A-5ED7-7FA5-D698B3161FD3}"/>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6" name="Espace réservé du pied de page 5">
            <a:extLst>
              <a:ext uri="{FF2B5EF4-FFF2-40B4-BE49-F238E27FC236}">
                <a16:creationId xmlns="" xmlns:a16="http://schemas.microsoft.com/office/drawing/2014/main" id="{E82FC171-DD62-982E-D23F-9D6A5BF1B42A}"/>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 xmlns:a16="http://schemas.microsoft.com/office/drawing/2014/main" id="{E8830969-22EA-2838-2886-5F50C6CA9CCD}"/>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3234598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5C2CF1AD-D984-33C1-A898-93277ECBF7D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 xmlns:a16="http://schemas.microsoft.com/office/drawing/2014/main" id="{51CAA3F0-236C-3185-0D06-95792908081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 xmlns:a16="http://schemas.microsoft.com/office/drawing/2014/main" id="{92DF7E47-9794-FC2C-10B6-CB00AB03D43E}"/>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5" name="Espace réservé du pied de page 4">
            <a:extLst>
              <a:ext uri="{FF2B5EF4-FFF2-40B4-BE49-F238E27FC236}">
                <a16:creationId xmlns="" xmlns:a16="http://schemas.microsoft.com/office/drawing/2014/main" id="{48AE5695-D94E-DC1F-453B-144B4A62581C}"/>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 xmlns:a16="http://schemas.microsoft.com/office/drawing/2014/main" id="{724DE677-5618-8387-2357-39786E751FF2}"/>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22065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 xmlns:a16="http://schemas.microsoft.com/office/drawing/2014/main" id="{37A6B65E-6D7B-2FA7-CA2B-712E75706ED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 xmlns:a16="http://schemas.microsoft.com/office/drawing/2014/main" id="{1278208A-B734-DFE1-381B-79D38536A71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 xmlns:a16="http://schemas.microsoft.com/office/drawing/2014/main" id="{1A5746F7-9848-3A4C-164F-CEDBEB73BA0A}"/>
              </a:ext>
            </a:extLst>
          </p:cNvPr>
          <p:cNvSpPr>
            <a:spLocks noGrp="1"/>
          </p:cNvSpPr>
          <p:nvPr>
            <p:ph type="dt" sz="half" idx="10"/>
          </p:nvPr>
        </p:nvSpPr>
        <p:spPr/>
        <p:txBody>
          <a:bodyPr/>
          <a:lstStyle/>
          <a:p>
            <a:fld id="{2DFA1759-ACC6-444A-8E71-87025A993889}" type="datetimeFigureOut">
              <a:rPr lang="fr-FR" smtClean="0"/>
              <a:t>07/10/2025</a:t>
            </a:fld>
            <a:endParaRPr lang="fr-FR" dirty="0"/>
          </a:p>
        </p:txBody>
      </p:sp>
      <p:sp>
        <p:nvSpPr>
          <p:cNvPr id="5" name="Espace réservé du pied de page 4">
            <a:extLst>
              <a:ext uri="{FF2B5EF4-FFF2-40B4-BE49-F238E27FC236}">
                <a16:creationId xmlns="" xmlns:a16="http://schemas.microsoft.com/office/drawing/2014/main" id="{E953FAF3-276A-53D4-1698-AB997D791643}"/>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 xmlns:a16="http://schemas.microsoft.com/office/drawing/2014/main" id="{EEF8CCC4-D336-14DC-D3C2-A4CFA4B706B0}"/>
              </a:ext>
            </a:extLst>
          </p:cNvPr>
          <p:cNvSpPr>
            <a:spLocks noGrp="1"/>
          </p:cNvSpPr>
          <p:nvPr>
            <p:ph type="sldNum" sz="quarter" idx="12"/>
          </p:nvPr>
        </p:nvSpPr>
        <p:spPr/>
        <p:txBody>
          <a:bodyPr/>
          <a:lstStyle/>
          <a:p>
            <a:fld id="{AD921C86-72A0-4583-AA45-BD9CE09E7A9F}" type="slidenum">
              <a:rPr lang="fr-FR" smtClean="0"/>
              <a:t>‹N°›</a:t>
            </a:fld>
            <a:endParaRPr lang="fr-FR" dirty="0"/>
          </a:p>
        </p:txBody>
      </p:sp>
    </p:spTree>
    <p:extLst>
      <p:ext uri="{BB962C8B-B14F-4D97-AF65-F5344CB8AC3E}">
        <p14:creationId xmlns:p14="http://schemas.microsoft.com/office/powerpoint/2010/main" val="1998509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 xmlns:a16="http://schemas.microsoft.com/office/drawing/2014/main" id="{009460CF-5319-056A-5645-125DFBBFB0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 xmlns:a16="http://schemas.microsoft.com/office/drawing/2014/main" id="{B1E06ABA-5EB3-87F2-B61D-863CB09AF4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 xmlns:a16="http://schemas.microsoft.com/office/drawing/2014/main" id="{A40310D7-DF25-7688-AF76-729F717BC1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A1759-ACC6-444A-8E71-87025A993889}" type="datetimeFigureOut">
              <a:rPr lang="fr-FR" smtClean="0"/>
              <a:t>07/10/2025</a:t>
            </a:fld>
            <a:endParaRPr lang="fr-FR" dirty="0"/>
          </a:p>
        </p:txBody>
      </p:sp>
      <p:sp>
        <p:nvSpPr>
          <p:cNvPr id="5" name="Espace réservé du pied de page 4">
            <a:extLst>
              <a:ext uri="{FF2B5EF4-FFF2-40B4-BE49-F238E27FC236}">
                <a16:creationId xmlns="" xmlns:a16="http://schemas.microsoft.com/office/drawing/2014/main" id="{B79752EF-7DDD-7860-8E27-64A6D0CEDD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 xmlns:a16="http://schemas.microsoft.com/office/drawing/2014/main" id="{AC45A8E6-7407-FFA3-1ED1-EBA06B1ACB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921C86-72A0-4583-AA45-BD9CE09E7A9F}" type="slidenum">
              <a:rPr lang="fr-FR" smtClean="0"/>
              <a:t>‹N°›</a:t>
            </a:fld>
            <a:endParaRPr lang="fr-FR" dirty="0"/>
          </a:p>
        </p:txBody>
      </p:sp>
    </p:spTree>
    <p:extLst>
      <p:ext uri="{BB962C8B-B14F-4D97-AF65-F5344CB8AC3E}">
        <p14:creationId xmlns:p14="http://schemas.microsoft.com/office/powerpoint/2010/main" val="3050002981"/>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 xmlns:a16="http://schemas.microsoft.com/office/drawing/2014/main" id="{68966D18-2179-D1CF-8995-D4DB32C122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288" y="1"/>
            <a:ext cx="12416287" cy="6857999"/>
          </a:xfrm>
          <a:prstGeom prst="rect">
            <a:avLst/>
          </a:prstGeom>
        </p:spPr>
      </p:pic>
      <p:sp>
        <p:nvSpPr>
          <p:cNvPr id="4" name="ZoneTexte 3">
            <a:extLst>
              <a:ext uri="{FF2B5EF4-FFF2-40B4-BE49-F238E27FC236}">
                <a16:creationId xmlns="" xmlns:a16="http://schemas.microsoft.com/office/drawing/2014/main" id="{796E9841-2BAF-3148-AC91-C373E891E7A1}"/>
              </a:ext>
            </a:extLst>
          </p:cNvPr>
          <p:cNvSpPr txBox="1"/>
          <p:nvPr/>
        </p:nvSpPr>
        <p:spPr>
          <a:xfrm>
            <a:off x="2986178" y="4407184"/>
            <a:ext cx="6219644" cy="2002023"/>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lnSpc>
                <a:spcPct val="150000"/>
              </a:lnSpc>
              <a:spcBef>
                <a:spcPts val="800"/>
              </a:spcBef>
              <a:spcAft>
                <a:spcPts val="400"/>
              </a:spcAft>
            </a:pPr>
            <a:r>
              <a:rPr lang="fr-FR" sz="4400" b="1" kern="100" dirty="0">
                <a:effectLst/>
                <a:latin typeface="Times New Roman" panose="02020603050405020304" pitchFamily="18" charset="0"/>
                <a:ea typeface="Times New Roman" panose="02020603050405020304" pitchFamily="18" charset="0"/>
                <a:cs typeface="Times New Roman" panose="02020603050405020304" pitchFamily="18" charset="0"/>
              </a:rPr>
              <a:t>SOYEZ LES BIENVENUS</a:t>
            </a:r>
          </a:p>
        </p:txBody>
      </p:sp>
      <p:sp>
        <p:nvSpPr>
          <p:cNvPr id="6" name="ZoneTexte 5">
            <a:extLst>
              <a:ext uri="{FF2B5EF4-FFF2-40B4-BE49-F238E27FC236}">
                <a16:creationId xmlns="" xmlns:a16="http://schemas.microsoft.com/office/drawing/2014/main" id="{A144E85A-2630-5026-2354-499A5A174E93}"/>
              </a:ext>
            </a:extLst>
          </p:cNvPr>
          <p:cNvSpPr txBox="1"/>
          <p:nvPr/>
        </p:nvSpPr>
        <p:spPr>
          <a:xfrm>
            <a:off x="-224288" y="309901"/>
            <a:ext cx="12364893" cy="52322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r>
              <a:rPr lang="fr-FR" sz="2800" b="1" i="0" u="none" strike="noStrike" kern="1200" cap="none" spc="0" baseline="0" dirty="0">
                <a:solidFill>
                  <a:schemeClr val="bg1"/>
                </a:solidFill>
                <a:uFillTx/>
                <a:latin typeface="Times New Roman" panose="02020603050405020304" pitchFamily="18" charset="0"/>
                <a:ea typeface=""/>
                <a:cs typeface="Times New Roman" panose="02020603050405020304" pitchFamily="18" charset="0"/>
              </a:rPr>
              <a:t>SOUTENANCE DE MÉMOIRE DE FIN DE LICENCE</a:t>
            </a:r>
            <a:endParaRPr lang="fr-FR" sz="2800" dirty="0"/>
          </a:p>
        </p:txBody>
      </p:sp>
      <p:sp>
        <p:nvSpPr>
          <p:cNvPr id="8" name="ZoneTexte 7">
            <a:extLst>
              <a:ext uri="{FF2B5EF4-FFF2-40B4-BE49-F238E27FC236}">
                <a16:creationId xmlns="" xmlns:a16="http://schemas.microsoft.com/office/drawing/2014/main" id="{9079E00B-F706-1E79-C779-929288BD95A1}"/>
              </a:ext>
            </a:extLst>
          </p:cNvPr>
          <p:cNvSpPr txBox="1"/>
          <p:nvPr/>
        </p:nvSpPr>
        <p:spPr>
          <a:xfrm>
            <a:off x="2986178" y="2189461"/>
            <a:ext cx="6219644" cy="52322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marL="0" indent="0" algn="ctr">
              <a:buNone/>
            </a:pPr>
            <a:r>
              <a:rPr lang="fr-FR" sz="2800" b="1" i="0" u="none" strike="noStrike" kern="1200" cap="none" spc="0" baseline="0" dirty="0">
                <a:solidFill>
                  <a:schemeClr val="bg1"/>
                </a:solidFill>
                <a:effectLst>
                  <a:outerShdw dist="19048" dir="2700000">
                    <a:srgbClr val="000000"/>
                  </a:outerShdw>
                </a:effectLst>
                <a:uFillTx/>
                <a:latin typeface="Times New Roman" panose="02020603050405020304" pitchFamily="18" charset="0"/>
                <a:ea typeface=""/>
                <a:cs typeface="Times New Roman" panose="02020603050405020304" pitchFamily="18" charset="0"/>
              </a:rPr>
              <a:t>Présentée par: Richsen KOUKPO</a:t>
            </a:r>
            <a:endParaRPr lang="fr-FR"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5701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 xmlns:a16="http://schemas.microsoft.com/office/drawing/2014/main" id="{792CBB86-E13A-3213-13D2-5995C9B53F4F}"/>
              </a:ext>
            </a:extLst>
          </p:cNvPr>
          <p:cNvSpPr txBox="1"/>
          <p:nvPr/>
        </p:nvSpPr>
        <p:spPr>
          <a:xfrm>
            <a:off x="0" y="0"/>
            <a:ext cx="12192000" cy="1315873"/>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lnSpc>
                <a:spcPct val="150000"/>
              </a:lnSpc>
              <a:spcAft>
                <a:spcPts val="800"/>
              </a:spcAft>
              <a:buNone/>
              <a:tabLst>
                <a:tab pos="2286000" algn="l"/>
              </a:tabLst>
            </a:pPr>
            <a:r>
              <a:rPr lang="fr-FR" sz="2800" b="1" kern="100" dirty="0">
                <a:effectLst/>
                <a:latin typeface="Times New Roman" panose="02020603050405020304" pitchFamily="18" charset="0"/>
                <a:ea typeface="Calibri" panose="020F0502020204030204" pitchFamily="34" charset="0"/>
                <a:cs typeface="Times New Roman" panose="02020603050405020304" pitchFamily="18" charset="0"/>
              </a:rPr>
              <a:t>MÉMOIRE DE LICENCE  PROFESSIONNELLE EN PLANIFICATION ET </a:t>
            </a:r>
            <a:r>
              <a:rPr lang="fr-FR" sz="2800" b="1" kern="100" dirty="0">
                <a:latin typeface="Times New Roman" panose="02020603050405020304" pitchFamily="18" charset="0"/>
                <a:ea typeface="Calibri" panose="020F0502020204030204" pitchFamily="34" charset="0"/>
                <a:cs typeface="Times New Roman" panose="02020603050405020304" pitchFamily="18" charset="0"/>
              </a:rPr>
              <a:t>GESTION DES ESPACES URBAINS ET RURAUX</a:t>
            </a:r>
            <a:endParaRPr lang="fr-FR"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 coins arrondis 1">
            <a:extLst>
              <a:ext uri="{FF2B5EF4-FFF2-40B4-BE49-F238E27FC236}">
                <a16:creationId xmlns="" xmlns:a16="http://schemas.microsoft.com/office/drawing/2014/main" id="{82D159EE-70D5-854E-409A-68BF2F707CFC}"/>
              </a:ext>
            </a:extLst>
          </p:cNvPr>
          <p:cNvSpPr/>
          <p:nvPr/>
        </p:nvSpPr>
        <p:spPr>
          <a:xfrm>
            <a:off x="1725284" y="2143020"/>
            <a:ext cx="9592573" cy="1984076"/>
          </a:xfrm>
          <a:prstGeom prst="roundRect">
            <a:avLst>
              <a:gd name="adj" fmla="val 30580"/>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fr-FR" sz="2400" b="1" dirty="0">
                <a:latin typeface="Times New Roman" panose="02020603050405020304" pitchFamily="18" charset="0"/>
                <a:cs typeface="Times New Roman" panose="02020603050405020304" pitchFamily="18" charset="0"/>
              </a:rPr>
              <a:t>GESTION DES ESPACES VERTS DANS LES LOGEMENTS SOCIAUX ET ECONOMIQUES DE OUEDO</a:t>
            </a:r>
            <a:endParaRPr lang="fr-FR" sz="2400"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 xmlns:a16="http://schemas.microsoft.com/office/drawing/2014/main" id="{A2312618-C2A3-BA5B-C184-2F2902B8C694}"/>
              </a:ext>
            </a:extLst>
          </p:cNvPr>
          <p:cNvSpPr txBox="1"/>
          <p:nvPr/>
        </p:nvSpPr>
        <p:spPr>
          <a:xfrm>
            <a:off x="6096000" y="5250236"/>
            <a:ext cx="6107502"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b="1" i="0" u="none" strike="noStrike" kern="1200" cap="none" spc="0" normalizeH="0" baseline="0" noProof="0" dirty="0">
                <a:ln>
                  <a:noFill/>
                </a:ln>
                <a:solidFill>
                  <a:schemeClr val="tx1">
                    <a:lumMod val="95000"/>
                  </a:schemeClr>
                </a:solidFill>
                <a:effectLst/>
                <a:uLnTx/>
                <a:uFillTx/>
                <a:latin typeface="Times New Roman" panose="02020603050405020304" pitchFamily="18" charset="0"/>
                <a:ea typeface=""/>
                <a:cs typeface="Times New Roman" panose="02020603050405020304" pitchFamily="18" charset="0"/>
              </a:rPr>
              <a:t>Maitre de mémoire</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b="1" i="0" u="none" strike="noStrike" kern="1200" cap="none" spc="0" normalizeH="0" baseline="0" noProof="0" dirty="0">
                <a:ln>
                  <a:noFill/>
                </a:ln>
                <a:solidFill>
                  <a:schemeClr val="tx1">
                    <a:lumMod val="95000"/>
                  </a:schemeClr>
                </a:solidFill>
                <a:effectLst/>
                <a:uLnTx/>
                <a:uFillTx/>
                <a:latin typeface="Times New Roman" panose="02020603050405020304" pitchFamily="18" charset="0"/>
                <a:ea typeface=""/>
                <a:cs typeface="Times New Roman" panose="02020603050405020304" pitchFamily="18" charset="0"/>
              </a:rPr>
              <a:t>Ismaila TOKO IMOROU</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b="0" i="0" u="none" strike="noStrike" kern="1200" cap="none" spc="0" normalizeH="0" baseline="0" noProof="0" dirty="0">
                <a:ln>
                  <a:noFill/>
                </a:ln>
                <a:solidFill>
                  <a:schemeClr val="tx1">
                    <a:lumMod val="95000"/>
                  </a:schemeClr>
                </a:solidFill>
                <a:effectLst/>
                <a:uLnTx/>
                <a:uFillTx/>
                <a:latin typeface="Times New Roman" panose="02020603050405020304" pitchFamily="18" charset="0"/>
                <a:ea typeface=""/>
                <a:cs typeface="Times New Roman" panose="02020603050405020304" pitchFamily="18" charset="0"/>
              </a:rPr>
              <a:t>Professeur Titulaire des Universités du CAMES</a:t>
            </a:r>
          </a:p>
          <a:p>
            <a:endParaRPr kumimoji="0" lang="fr-FR" sz="1800" b="0" i="0" u="none" strike="noStrike" kern="1200" cap="none" spc="0" normalizeH="0" baseline="0" noProof="0" dirty="0">
              <a:ln>
                <a:noFill/>
              </a:ln>
              <a:solidFill>
                <a:schemeClr val="tx1">
                  <a:lumMod val="95000"/>
                </a:schemeClr>
              </a:solidFill>
              <a:effectLst/>
              <a:uLnTx/>
              <a:uFillTx/>
              <a:latin typeface="Times New Roman" panose="02020603050405020304" pitchFamily="18" charset="0"/>
              <a:ea typeface=""/>
              <a:cs typeface="Times New Roman" panose="02020603050405020304" pitchFamily="18" charset="0"/>
            </a:endParaRPr>
          </a:p>
        </p:txBody>
      </p:sp>
    </p:spTree>
    <p:extLst>
      <p:ext uri="{BB962C8B-B14F-4D97-AF65-F5344CB8AC3E}">
        <p14:creationId xmlns:p14="http://schemas.microsoft.com/office/powerpoint/2010/main" val="32264724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 xmlns:a16="http://schemas.microsoft.com/office/drawing/2014/main" id="{74B87196-1436-E0BC-8710-B0CC028DE93A}"/>
              </a:ext>
            </a:extLst>
          </p:cNvPr>
          <p:cNvSpPr txBox="1"/>
          <p:nvPr/>
        </p:nvSpPr>
        <p:spPr>
          <a:xfrm>
            <a:off x="0" y="17282"/>
            <a:ext cx="12192000" cy="98636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lnSpc>
                <a:spcPct val="150000"/>
              </a:lnSpc>
              <a:spcBef>
                <a:spcPts val="800"/>
              </a:spcBef>
              <a:spcAft>
                <a:spcPts val="400"/>
              </a:spcAft>
              <a:buNone/>
            </a:pPr>
            <a:r>
              <a:rPr lang="fr-FR" sz="4400" b="1" kern="100" dirty="0">
                <a:effectLst/>
                <a:latin typeface="Times New Roman" panose="02020603050405020304" pitchFamily="18" charset="0"/>
                <a:ea typeface="Times New Roman" panose="02020603050405020304" pitchFamily="18" charset="0"/>
                <a:cs typeface="Times New Roman" panose="02020603050405020304" pitchFamily="18" charset="0"/>
              </a:rPr>
              <a:t>PLAN</a:t>
            </a:r>
          </a:p>
        </p:txBody>
      </p:sp>
      <p:sp>
        <p:nvSpPr>
          <p:cNvPr id="7" name="ZoneTexte 6">
            <a:extLst>
              <a:ext uri="{FF2B5EF4-FFF2-40B4-BE49-F238E27FC236}">
                <a16:creationId xmlns="" xmlns:a16="http://schemas.microsoft.com/office/drawing/2014/main" id="{2ADA39B2-9E5E-4E69-4415-C2B7539516E3}"/>
              </a:ext>
            </a:extLst>
          </p:cNvPr>
          <p:cNvSpPr txBox="1"/>
          <p:nvPr/>
        </p:nvSpPr>
        <p:spPr>
          <a:xfrm>
            <a:off x="647400" y="2141232"/>
            <a:ext cx="6098146" cy="579967"/>
          </a:xfrm>
          <a:prstGeom prst="rect">
            <a:avLst/>
          </a:prstGeom>
          <a:noFill/>
        </p:spPr>
        <p:txBody>
          <a:bodyPr wrap="square">
            <a:spAutoFit/>
          </a:bodyPr>
          <a:lstStyle/>
          <a:p>
            <a:pPr marL="342900" indent="-342900" algn="just">
              <a:lnSpc>
                <a:spcPct val="150000"/>
              </a:lnSpc>
              <a:spcBef>
                <a:spcPts val="800"/>
              </a:spcBef>
              <a:spcAft>
                <a:spcPts val="400"/>
              </a:spcAft>
              <a:buFont typeface="Wingdings" panose="05000000000000000000" pitchFamily="2" charset="2"/>
              <a:buChar char="q"/>
            </a:pPr>
            <a:r>
              <a:rPr lang="fr-F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PROBLEMATIQUE</a:t>
            </a:r>
          </a:p>
        </p:txBody>
      </p:sp>
      <p:sp>
        <p:nvSpPr>
          <p:cNvPr id="9" name="ZoneTexte 8">
            <a:extLst>
              <a:ext uri="{FF2B5EF4-FFF2-40B4-BE49-F238E27FC236}">
                <a16:creationId xmlns="" xmlns:a16="http://schemas.microsoft.com/office/drawing/2014/main" id="{35D3DF0A-AB84-59FD-9E38-562A54CC5E2A}"/>
              </a:ext>
            </a:extLst>
          </p:cNvPr>
          <p:cNvSpPr txBox="1"/>
          <p:nvPr/>
        </p:nvSpPr>
        <p:spPr>
          <a:xfrm>
            <a:off x="647400" y="2869830"/>
            <a:ext cx="6098146" cy="461665"/>
          </a:xfrm>
          <a:prstGeom prst="rect">
            <a:avLst/>
          </a:prstGeom>
          <a:noFill/>
        </p:spPr>
        <p:txBody>
          <a:bodyPr wrap="square">
            <a:spAutoFit/>
          </a:bodyPr>
          <a:lstStyle/>
          <a:p>
            <a:pPr marL="342900" indent="-342900">
              <a:buFont typeface="Wingdings" panose="05000000000000000000" pitchFamily="2" charset="2"/>
              <a:buChar char="q"/>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OBJECTIFS DE RECHERCHE</a:t>
            </a:r>
            <a:endParaRPr lang="fr-FR" sz="2400" b="1" dirty="0">
              <a:latin typeface="Times New Roman" panose="02020603050405020304" pitchFamily="18" charset="0"/>
              <a:cs typeface="Times New Roman" panose="02020603050405020304" pitchFamily="18" charset="0"/>
            </a:endParaRPr>
          </a:p>
        </p:txBody>
      </p:sp>
      <p:sp>
        <p:nvSpPr>
          <p:cNvPr id="11" name="ZoneTexte 10">
            <a:extLst>
              <a:ext uri="{FF2B5EF4-FFF2-40B4-BE49-F238E27FC236}">
                <a16:creationId xmlns="" xmlns:a16="http://schemas.microsoft.com/office/drawing/2014/main" id="{264D438B-EC78-DA82-AFB1-ED08C37523ED}"/>
              </a:ext>
            </a:extLst>
          </p:cNvPr>
          <p:cNvSpPr txBox="1"/>
          <p:nvPr/>
        </p:nvSpPr>
        <p:spPr>
          <a:xfrm>
            <a:off x="647400" y="3450460"/>
            <a:ext cx="6098146" cy="461665"/>
          </a:xfrm>
          <a:prstGeom prst="rect">
            <a:avLst/>
          </a:prstGeom>
          <a:noFill/>
        </p:spPr>
        <p:txBody>
          <a:bodyPr wrap="square">
            <a:spAutoFit/>
          </a:bodyPr>
          <a:lstStyle/>
          <a:p>
            <a:pPr marL="342900" indent="-342900">
              <a:buFont typeface="Wingdings" panose="05000000000000000000" pitchFamily="2" charset="2"/>
              <a:buChar char="q"/>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APPROCHE METHODOLOGIQUE</a:t>
            </a:r>
            <a:endParaRPr lang="fr-FR" sz="2400" b="1" dirty="0">
              <a:latin typeface="Times New Roman" panose="02020603050405020304" pitchFamily="18" charset="0"/>
              <a:cs typeface="Times New Roman" panose="02020603050405020304" pitchFamily="18" charset="0"/>
            </a:endParaRPr>
          </a:p>
        </p:txBody>
      </p:sp>
      <p:sp>
        <p:nvSpPr>
          <p:cNvPr id="13" name="ZoneTexte 12">
            <a:extLst>
              <a:ext uri="{FF2B5EF4-FFF2-40B4-BE49-F238E27FC236}">
                <a16:creationId xmlns="" xmlns:a16="http://schemas.microsoft.com/office/drawing/2014/main" id="{6BB5A900-F177-E0D3-C184-36745717118C}"/>
              </a:ext>
            </a:extLst>
          </p:cNvPr>
          <p:cNvSpPr txBox="1"/>
          <p:nvPr/>
        </p:nvSpPr>
        <p:spPr>
          <a:xfrm>
            <a:off x="647400" y="4060756"/>
            <a:ext cx="6098146" cy="461665"/>
          </a:xfrm>
          <a:prstGeom prst="rect">
            <a:avLst/>
          </a:prstGeom>
          <a:noFill/>
        </p:spPr>
        <p:txBody>
          <a:bodyPr wrap="square">
            <a:spAutoFit/>
          </a:bodyPr>
          <a:lstStyle/>
          <a:p>
            <a:pPr marL="342900" indent="-342900">
              <a:buFont typeface="Wingdings" panose="05000000000000000000" pitchFamily="2" charset="2"/>
              <a:buChar char="q"/>
            </a:pPr>
            <a:r>
              <a:rPr lang="fr-BE" sz="2400" b="1" dirty="0">
                <a:latin typeface="Times New Roman" panose="02020603050405020304" pitchFamily="18" charset="0"/>
                <a:cs typeface="Times New Roman" panose="02020603050405020304" pitchFamily="18" charset="0"/>
              </a:rPr>
              <a:t>RESULTATS</a:t>
            </a:r>
            <a:endParaRPr lang="fr-FR" sz="2400" b="1" dirty="0">
              <a:latin typeface="Times New Roman" panose="02020603050405020304" pitchFamily="18" charset="0"/>
              <a:cs typeface="Times New Roman" panose="02020603050405020304" pitchFamily="18" charset="0"/>
            </a:endParaRPr>
          </a:p>
        </p:txBody>
      </p:sp>
      <p:sp>
        <p:nvSpPr>
          <p:cNvPr id="15" name="ZoneTexte 14">
            <a:extLst>
              <a:ext uri="{FF2B5EF4-FFF2-40B4-BE49-F238E27FC236}">
                <a16:creationId xmlns="" xmlns:a16="http://schemas.microsoft.com/office/drawing/2014/main" id="{6C677ED8-17CB-3491-F9B3-BACB854A5004}"/>
              </a:ext>
            </a:extLst>
          </p:cNvPr>
          <p:cNvSpPr txBox="1"/>
          <p:nvPr/>
        </p:nvSpPr>
        <p:spPr>
          <a:xfrm>
            <a:off x="647401" y="4611721"/>
            <a:ext cx="6098146" cy="461665"/>
          </a:xfrm>
          <a:prstGeom prst="rect">
            <a:avLst/>
          </a:prstGeom>
          <a:noFill/>
        </p:spPr>
        <p:txBody>
          <a:bodyPr wrap="square">
            <a:spAutoFit/>
          </a:bodyPr>
          <a:lstStyle/>
          <a:p>
            <a:pPr marL="342900" indent="-342900">
              <a:buFont typeface="Wingdings" panose="05000000000000000000" pitchFamily="2" charset="2"/>
              <a:buChar char="q"/>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CONCLUSION </a:t>
            </a:r>
            <a:endParaRPr lang="fr-FR" sz="2400" b="1" dirty="0">
              <a:latin typeface="Times New Roman" panose="02020603050405020304" pitchFamily="18" charset="0"/>
              <a:cs typeface="Times New Roman" panose="02020603050405020304" pitchFamily="18" charset="0"/>
            </a:endParaRPr>
          </a:p>
        </p:txBody>
      </p:sp>
      <p:sp>
        <p:nvSpPr>
          <p:cNvPr id="2" name="ZoneTexte 1">
            <a:extLst>
              <a:ext uri="{FF2B5EF4-FFF2-40B4-BE49-F238E27FC236}">
                <a16:creationId xmlns="" xmlns:a16="http://schemas.microsoft.com/office/drawing/2014/main" id="{FE42A092-115B-2E4E-C155-AF2DFB918907}"/>
              </a:ext>
            </a:extLst>
          </p:cNvPr>
          <p:cNvSpPr txBox="1"/>
          <p:nvPr/>
        </p:nvSpPr>
        <p:spPr>
          <a:xfrm>
            <a:off x="647401" y="5155640"/>
            <a:ext cx="6098146" cy="461665"/>
          </a:xfrm>
          <a:prstGeom prst="rect">
            <a:avLst/>
          </a:prstGeom>
          <a:noFill/>
        </p:spPr>
        <p:txBody>
          <a:bodyPr wrap="square">
            <a:spAutoFit/>
          </a:bodyPr>
          <a:lstStyle/>
          <a:p>
            <a:pPr marL="342900" indent="-342900">
              <a:buFont typeface="Wingdings" panose="05000000000000000000" pitchFamily="2" charset="2"/>
              <a:buChar char="q"/>
            </a:pPr>
            <a:r>
              <a:rPr lang="fr-BE" sz="2400" b="1" dirty="0">
                <a:effectLst/>
                <a:latin typeface="Times New Roman" panose="02020603050405020304" pitchFamily="18" charset="0"/>
                <a:ea typeface="Calibri" panose="020F0502020204030204" pitchFamily="34" charset="0"/>
                <a:cs typeface="Times New Roman" panose="02020603050405020304" pitchFamily="18" charset="0"/>
              </a:rPr>
              <a:t>SUGGESTIONS </a:t>
            </a:r>
            <a:endParaRPr lang="fr-FR" sz="2400" b="1" dirty="0">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 xmlns:a16="http://schemas.microsoft.com/office/drawing/2014/main" id="{7B17B345-D9EE-6933-DBE2-33EFC0FD31DE}"/>
              </a:ext>
            </a:extLst>
          </p:cNvPr>
          <p:cNvSpPr txBox="1"/>
          <p:nvPr/>
        </p:nvSpPr>
        <p:spPr>
          <a:xfrm>
            <a:off x="647400" y="1501451"/>
            <a:ext cx="7886999" cy="579967"/>
          </a:xfrm>
          <a:prstGeom prst="rect">
            <a:avLst/>
          </a:prstGeom>
          <a:noFill/>
        </p:spPr>
        <p:txBody>
          <a:bodyPr wrap="square">
            <a:spAutoFit/>
          </a:bodyPr>
          <a:lstStyle/>
          <a:p>
            <a:pPr marL="342900" indent="-342900" algn="just">
              <a:lnSpc>
                <a:spcPct val="150000"/>
              </a:lnSpc>
              <a:spcBef>
                <a:spcPts val="800"/>
              </a:spcBef>
              <a:spcAft>
                <a:spcPts val="400"/>
              </a:spcAft>
              <a:buFont typeface="Wingdings" panose="05000000000000000000" pitchFamily="2" charset="2"/>
              <a:buChar char="q"/>
            </a:pPr>
            <a:r>
              <a:rPr lang="fr-F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PRESENTATION DU MILIEU DE RECHERCHE</a:t>
            </a:r>
          </a:p>
        </p:txBody>
      </p:sp>
    </p:spTree>
    <p:extLst>
      <p:ext uri="{BB962C8B-B14F-4D97-AF65-F5344CB8AC3E}">
        <p14:creationId xmlns:p14="http://schemas.microsoft.com/office/powerpoint/2010/main" val="41353558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 xmlns:a16="http://schemas.microsoft.com/office/drawing/2014/main" id="{D99D9BD9-A196-A1E1-B684-754D9E97E880}"/>
              </a:ext>
            </a:extLst>
          </p:cNvPr>
          <p:cNvSpPr txBox="1"/>
          <p:nvPr/>
        </p:nvSpPr>
        <p:spPr>
          <a:xfrm>
            <a:off x="1" y="0"/>
            <a:ext cx="12191999" cy="707886"/>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r>
              <a:rPr lang="fr-FR" sz="4000" b="1" dirty="0">
                <a:effectLst/>
                <a:latin typeface="Times New Roman" panose="02020603050405020304" pitchFamily="18" charset="0"/>
                <a:ea typeface="Calibri" panose="020F0502020204030204" pitchFamily="34" charset="0"/>
                <a:cs typeface="Times New Roman" panose="02020603050405020304" pitchFamily="18" charset="0"/>
              </a:rPr>
              <a:t>PRESENTATION DU MILIEU DE RECHERCHE</a:t>
            </a:r>
            <a:endParaRPr lang="fr-FR" sz="4000" b="1" dirty="0">
              <a:latin typeface="Times New Roman" panose="02020603050405020304" pitchFamily="18" charset="0"/>
              <a:cs typeface="Times New Roman" panose="02020603050405020304" pitchFamily="18" charset="0"/>
            </a:endParaRPr>
          </a:p>
        </p:txBody>
      </p:sp>
      <p:pic>
        <p:nvPicPr>
          <p:cNvPr id="5" name="Image 4">
            <a:extLst>
              <a:ext uri="{FF2B5EF4-FFF2-40B4-BE49-F238E27FC236}">
                <a16:creationId xmlns="" xmlns:a16="http://schemas.microsoft.com/office/drawing/2014/main" id="{C87D4FF5-58A0-380E-70E3-92D61C868EC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020" y="833411"/>
            <a:ext cx="4337914" cy="5886567"/>
          </a:xfrm>
          <a:prstGeom prst="rect">
            <a:avLst/>
          </a:prstGeom>
          <a:noFill/>
          <a:ln>
            <a:noFill/>
          </a:ln>
        </p:spPr>
      </p:pic>
      <p:sp>
        <p:nvSpPr>
          <p:cNvPr id="7" name="ZoneTexte 6">
            <a:extLst>
              <a:ext uri="{FF2B5EF4-FFF2-40B4-BE49-F238E27FC236}">
                <a16:creationId xmlns="" xmlns:a16="http://schemas.microsoft.com/office/drawing/2014/main" id="{42EFCF37-4742-F3DA-C7E4-2B12E0940D37}"/>
              </a:ext>
            </a:extLst>
          </p:cNvPr>
          <p:cNvSpPr txBox="1"/>
          <p:nvPr/>
        </p:nvSpPr>
        <p:spPr>
          <a:xfrm>
            <a:off x="5029396" y="2040672"/>
            <a:ext cx="6098146" cy="1889620"/>
          </a:xfrm>
          <a:prstGeom prst="rect">
            <a:avLst/>
          </a:prstGeom>
          <a:noFill/>
        </p:spPr>
        <p:txBody>
          <a:bodyPr wrap="square">
            <a:spAutoFit/>
          </a:bodyPr>
          <a:lstStyle/>
          <a:p>
            <a:pPr algn="just">
              <a:lnSpc>
                <a:spcPct val="150000"/>
              </a:lnSpc>
            </a:pPr>
            <a:r>
              <a:rPr lang="fr-FR" sz="2000" dirty="0">
                <a:effectLst/>
                <a:latin typeface="Times New Roman" panose="02020603050405020304" pitchFamily="18" charset="0"/>
                <a:ea typeface="Calibri" panose="020F0502020204030204" pitchFamily="34" charset="0"/>
              </a:rPr>
              <a:t>Département: Atlantique</a:t>
            </a:r>
          </a:p>
          <a:p>
            <a:pPr algn="just">
              <a:lnSpc>
                <a:spcPct val="150000"/>
              </a:lnSpc>
            </a:pPr>
            <a:r>
              <a:rPr lang="fr-FR" sz="2000" dirty="0">
                <a:effectLst/>
                <a:latin typeface="Times New Roman" panose="02020603050405020304" pitchFamily="18" charset="0"/>
                <a:ea typeface="Calibri" panose="020F0502020204030204" pitchFamily="34" charset="0"/>
              </a:rPr>
              <a:t>Commune: Abomey-Calavi </a:t>
            </a:r>
          </a:p>
          <a:p>
            <a:pPr algn="just">
              <a:lnSpc>
                <a:spcPct val="150000"/>
              </a:lnSpc>
            </a:pPr>
            <a:r>
              <a:rPr lang="fr-BE" sz="2000" dirty="0">
                <a:latin typeface="Times New Roman" panose="02020603050405020304" pitchFamily="18" charset="0"/>
                <a:ea typeface="Calibri" panose="020F0502020204030204" pitchFamily="34" charset="0"/>
              </a:rPr>
              <a:t>Coordonnées : </a:t>
            </a:r>
            <a:r>
              <a:rPr lang="fr-FR" sz="2000" dirty="0">
                <a:latin typeface="Times New Roman" panose="02020603050405020304" pitchFamily="18" charset="0"/>
                <a:ea typeface="Calibri" panose="020F0502020204030204" pitchFamily="34" charset="0"/>
              </a:rPr>
              <a:t>situé entre </a:t>
            </a:r>
            <a:r>
              <a:rPr lang="fr-FR" sz="2000" dirty="0">
                <a:effectLst/>
                <a:latin typeface="Times New Roman" panose="02020603050405020304" pitchFamily="18" charset="0"/>
                <a:ea typeface="Calibri" panose="020F0502020204030204" pitchFamily="34" charset="0"/>
              </a:rPr>
              <a:t>6°24’33’’ et 6°30’47’’ de latitude Nord, et  2°13’36’’ et 2°17’07’’ de longitude Est.</a:t>
            </a:r>
          </a:p>
        </p:txBody>
      </p:sp>
      <p:sp>
        <p:nvSpPr>
          <p:cNvPr id="3" name="ZoneTexte 2">
            <a:extLst>
              <a:ext uri="{FF2B5EF4-FFF2-40B4-BE49-F238E27FC236}">
                <a16:creationId xmlns="" xmlns:a16="http://schemas.microsoft.com/office/drawing/2014/main" id="{C50575C0-F3B1-C291-04C8-A0F9601642D0}"/>
              </a:ext>
            </a:extLst>
          </p:cNvPr>
          <p:cNvSpPr txBox="1"/>
          <p:nvPr/>
        </p:nvSpPr>
        <p:spPr>
          <a:xfrm>
            <a:off x="5029396" y="4180577"/>
            <a:ext cx="6098146" cy="777777"/>
          </a:xfrm>
          <a:prstGeom prst="rect">
            <a:avLst/>
          </a:prstGeom>
          <a:noFill/>
        </p:spPr>
        <p:txBody>
          <a:bodyPr wrap="square">
            <a:spAutoFit/>
          </a:bodyPr>
          <a:lstStyle/>
          <a:p>
            <a:pPr>
              <a:lnSpc>
                <a:spcPct val="115000"/>
              </a:lnSpc>
              <a:spcAft>
                <a:spcPts val="800"/>
              </a:spcAft>
            </a:pPr>
            <a:r>
              <a:rPr lang="fr-FR" sz="2000" b="1" kern="100" dirty="0">
                <a:effectLst/>
                <a:latin typeface="Times New Roman" panose="02020603050405020304" pitchFamily="18" charset="0"/>
                <a:ea typeface="Calibri" panose="020F0502020204030204" pitchFamily="34" charset="0"/>
                <a:cs typeface="Times New Roman" panose="02020603050405020304" pitchFamily="18" charset="0"/>
              </a:rPr>
              <a:t>Figure 1 : </a:t>
            </a:r>
            <a:r>
              <a:rPr lang="fr-FR" sz="2000" kern="100" dirty="0">
                <a:effectLst/>
                <a:latin typeface="Times New Roman" panose="02020603050405020304" pitchFamily="18" charset="0"/>
                <a:ea typeface="Calibri" panose="020F0502020204030204" pitchFamily="34" charset="0"/>
                <a:cs typeface="Times New Roman" panose="02020603050405020304" pitchFamily="18" charset="0"/>
              </a:rPr>
              <a:t>Situation géographique et administrative de l’arrondissement de Ouèdo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856324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 xmlns:a16="http://schemas.microsoft.com/office/drawing/2014/main" id="{E0E44D69-789D-FC4C-C28C-2E9024A648AF}"/>
              </a:ext>
            </a:extLst>
          </p:cNvPr>
          <p:cNvSpPr txBox="1"/>
          <p:nvPr/>
        </p:nvSpPr>
        <p:spPr>
          <a:xfrm>
            <a:off x="0" y="-3613"/>
            <a:ext cx="12237720" cy="905056"/>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lnSpc>
                <a:spcPct val="150000"/>
              </a:lnSpc>
              <a:spcBef>
                <a:spcPts val="800"/>
              </a:spcBef>
              <a:spcAft>
                <a:spcPts val="400"/>
              </a:spcAft>
            </a:pPr>
            <a:r>
              <a:rPr lang="fr-FR" sz="4000" b="1" kern="100" dirty="0">
                <a:effectLst/>
                <a:latin typeface="Times New Roman" panose="02020603050405020304" pitchFamily="18" charset="0"/>
                <a:ea typeface="Times New Roman" panose="02020603050405020304" pitchFamily="18" charset="0"/>
                <a:cs typeface="Times New Roman" panose="02020603050405020304" pitchFamily="18" charset="0"/>
              </a:rPr>
              <a:t>POURQUOI UNE TELLE RECHERCHE</a:t>
            </a:r>
          </a:p>
        </p:txBody>
      </p:sp>
      <p:sp>
        <p:nvSpPr>
          <p:cNvPr id="5" name="ZoneTexte 4">
            <a:extLst>
              <a:ext uri="{FF2B5EF4-FFF2-40B4-BE49-F238E27FC236}">
                <a16:creationId xmlns="" xmlns:a16="http://schemas.microsoft.com/office/drawing/2014/main" id="{75EC60B3-6426-8CF6-7584-A91104A3BFA3}"/>
              </a:ext>
            </a:extLst>
          </p:cNvPr>
          <p:cNvSpPr txBox="1"/>
          <p:nvPr/>
        </p:nvSpPr>
        <p:spPr>
          <a:xfrm>
            <a:off x="138023" y="1186978"/>
            <a:ext cx="11852694" cy="190821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sz="2000" kern="0" dirty="0">
                <a:effectLst/>
                <a:latin typeface="Times New Roman" panose="02020603050405020304" pitchFamily="18" charset="0"/>
                <a:ea typeface="SimSun" panose="02010600030101010101" pitchFamily="2" charset="-122"/>
              </a:rPr>
              <a:t>Au Bénin, plusieurs efforts ont été faits pour redonner une place au végétal dans le cadre public urbain, afin de permettre aux populations de bénéficier de tous ses bienfaits (</a:t>
            </a:r>
            <a:r>
              <a:rPr lang="fr-FR" sz="2000" kern="0" dirty="0" err="1">
                <a:effectLst/>
                <a:latin typeface="Times New Roman" panose="02020603050405020304" pitchFamily="18" charset="0"/>
                <a:ea typeface="SimSun" panose="02010600030101010101" pitchFamily="2" charset="-122"/>
              </a:rPr>
              <a:t>Amontcha</a:t>
            </a:r>
            <a:r>
              <a:rPr lang="fr-FR" sz="2000" kern="0" dirty="0">
                <a:effectLst/>
                <a:latin typeface="Times New Roman" panose="02020603050405020304" pitchFamily="18" charset="0"/>
                <a:ea typeface="SimSun" panose="02010600030101010101" pitchFamily="2" charset="-122"/>
              </a:rPr>
              <a:t>, 2017, p80). Cette dynamique est prise en compte à travers plusieurs politiques publiques inscrites dans le Programme d’Actions du Gouvernement (PAG 2021-2026, p.59), qui promeut notamment le verdissement urbain via des projets tels que l’asphaltage, la gestion durable des forêts classées et l’aménagement écologique du Grand </a:t>
            </a:r>
            <a:r>
              <a:rPr lang="fr-FR" sz="2000" kern="0" dirty="0" err="1">
                <a:effectLst/>
                <a:latin typeface="Times New Roman" panose="02020603050405020304" pitchFamily="18" charset="0"/>
                <a:ea typeface="SimSun" panose="02010600030101010101" pitchFamily="2" charset="-122"/>
              </a:rPr>
              <a:t>Nokoué</a:t>
            </a:r>
            <a:r>
              <a:rPr lang="fr-FR" sz="2000" kern="0" dirty="0">
                <a:effectLst/>
                <a:latin typeface="Times New Roman" panose="02020603050405020304" pitchFamily="18" charset="0"/>
                <a:ea typeface="SimSun" panose="02010600030101010101" pitchFamily="2" charset="-122"/>
              </a:rPr>
              <a:t>.</a:t>
            </a:r>
          </a:p>
          <a:p>
            <a:endParaRPr lang="fr-FR" kern="0" dirty="0">
              <a:latin typeface="Times New Roman" panose="02020603050405020304" pitchFamily="18" charset="0"/>
              <a:ea typeface="SimSun" panose="02010600030101010101" pitchFamily="2" charset="-122"/>
            </a:endParaRPr>
          </a:p>
        </p:txBody>
      </p:sp>
      <p:sp>
        <p:nvSpPr>
          <p:cNvPr id="9" name="ZoneTexte 8">
            <a:extLst>
              <a:ext uri="{FF2B5EF4-FFF2-40B4-BE49-F238E27FC236}">
                <a16:creationId xmlns="" xmlns:a16="http://schemas.microsoft.com/office/drawing/2014/main" id="{C8313765-5550-F62A-6348-5D0498560D0D}"/>
              </a:ext>
            </a:extLst>
          </p:cNvPr>
          <p:cNvSpPr txBox="1"/>
          <p:nvPr/>
        </p:nvSpPr>
        <p:spPr>
          <a:xfrm>
            <a:off x="138022" y="3565341"/>
            <a:ext cx="11852694" cy="132343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sz="2000" kern="0" dirty="0">
                <a:effectLst/>
                <a:latin typeface="Times New Roman" panose="02020603050405020304" pitchFamily="18" charset="0"/>
                <a:ea typeface="SimSun" panose="02010600030101010101" pitchFamily="2" charset="-122"/>
              </a:rPr>
              <a:t>Parmi les projets phares, figure le projet des logements sociaux et économiques de Ouèdo, accompagnés de vastes espaces verts. En effet, les logements sociaux et économiques de Ouèdo sont accompagnés de jardins privés, d’espace d’agrément, d’aire de jeux et places publics communautaires, soyeusement végétalisés, boisés et / ou fleuris. </a:t>
            </a:r>
          </a:p>
        </p:txBody>
      </p:sp>
      <p:sp>
        <p:nvSpPr>
          <p:cNvPr id="11" name="ZoneTexte 10">
            <a:extLst>
              <a:ext uri="{FF2B5EF4-FFF2-40B4-BE49-F238E27FC236}">
                <a16:creationId xmlns="" xmlns:a16="http://schemas.microsoft.com/office/drawing/2014/main" id="{21D3872F-0CA7-D7FB-B6B7-A1E73C53125D}"/>
              </a:ext>
            </a:extLst>
          </p:cNvPr>
          <p:cNvSpPr txBox="1"/>
          <p:nvPr/>
        </p:nvSpPr>
        <p:spPr>
          <a:xfrm>
            <a:off x="138023" y="5358928"/>
            <a:ext cx="11852694"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sz="2000" kern="0" dirty="0">
                <a:effectLst/>
                <a:latin typeface="Times New Roman" panose="02020603050405020304" pitchFamily="18" charset="0"/>
                <a:ea typeface="SimSun" panose="02010600030101010101" pitchFamily="2" charset="-122"/>
              </a:rPr>
              <a:t>La durabilité de ces aménagements paysagers dépend largement de la politique de gestion qui les accompagne, et de l’implication ou participation des occupants des lieux. </a:t>
            </a:r>
            <a:endParaRPr lang="fr-FR" sz="2000" dirty="0"/>
          </a:p>
        </p:txBody>
      </p:sp>
      <p:sp>
        <p:nvSpPr>
          <p:cNvPr id="12" name="Flèche : bas 11">
            <a:extLst>
              <a:ext uri="{FF2B5EF4-FFF2-40B4-BE49-F238E27FC236}">
                <a16:creationId xmlns="" xmlns:a16="http://schemas.microsoft.com/office/drawing/2014/main" id="{E05DF977-3ACA-3310-2018-123ADCEDB68E}"/>
              </a:ext>
            </a:extLst>
          </p:cNvPr>
          <p:cNvSpPr/>
          <p:nvPr/>
        </p:nvSpPr>
        <p:spPr>
          <a:xfrm>
            <a:off x="5710686" y="3119065"/>
            <a:ext cx="707366" cy="4462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 bas 12">
            <a:extLst>
              <a:ext uri="{FF2B5EF4-FFF2-40B4-BE49-F238E27FC236}">
                <a16:creationId xmlns="" xmlns:a16="http://schemas.microsoft.com/office/drawing/2014/main" id="{8EC17CA4-D75B-67AB-8E89-13393FF83C14}"/>
              </a:ext>
            </a:extLst>
          </p:cNvPr>
          <p:cNvSpPr/>
          <p:nvPr/>
        </p:nvSpPr>
        <p:spPr>
          <a:xfrm>
            <a:off x="5710686" y="4888780"/>
            <a:ext cx="707366" cy="4462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685479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 xmlns:a16="http://schemas.microsoft.com/office/drawing/2014/main" id="{62C39FA9-DF9E-CEC2-1DBB-BD1EF4564B6D}"/>
              </a:ext>
            </a:extLst>
          </p:cNvPr>
          <p:cNvSpPr txBox="1"/>
          <p:nvPr/>
        </p:nvSpPr>
        <p:spPr>
          <a:xfrm>
            <a:off x="0" y="-21738"/>
            <a:ext cx="12169464" cy="905056"/>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lnSpc>
                <a:spcPct val="150000"/>
              </a:lnSpc>
              <a:spcBef>
                <a:spcPts val="800"/>
              </a:spcBef>
              <a:spcAft>
                <a:spcPts val="400"/>
              </a:spcAft>
              <a:buNone/>
            </a:pPr>
            <a:r>
              <a:rPr lang="fr-BE" sz="4000" b="1" kern="100" dirty="0">
                <a:latin typeface="Times New Roman" panose="02020603050405020304" pitchFamily="18" charset="0"/>
                <a:ea typeface="Times New Roman" panose="02020603050405020304" pitchFamily="18" charset="0"/>
                <a:cs typeface="Times New Roman" panose="02020603050405020304" pitchFamily="18" charset="0"/>
              </a:rPr>
              <a:t>Q</a:t>
            </a:r>
            <a:r>
              <a:rPr lang="fr-FR" sz="4000" b="1" kern="100" dirty="0">
                <a:latin typeface="Times New Roman" panose="02020603050405020304" pitchFamily="18" charset="0"/>
                <a:ea typeface="Times New Roman" panose="02020603050405020304" pitchFamily="18" charset="0"/>
                <a:cs typeface="Times New Roman" panose="02020603050405020304" pitchFamily="18" charset="0"/>
              </a:rPr>
              <a:t>UESTIONS DE RECHERCHE</a:t>
            </a:r>
            <a:endParaRPr lang="fr-FR" sz="40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 xmlns:a16="http://schemas.microsoft.com/office/drawing/2014/main" id="{FE2803D3-7C44-6584-02B7-35364D23A2D2}"/>
              </a:ext>
            </a:extLst>
          </p:cNvPr>
          <p:cNvSpPr txBox="1"/>
          <p:nvPr/>
        </p:nvSpPr>
        <p:spPr>
          <a:xfrm>
            <a:off x="4298324" y="1267003"/>
            <a:ext cx="6098146" cy="966290"/>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just">
              <a:lnSpc>
                <a:spcPct val="150000"/>
              </a:lnSpc>
              <a:spcAft>
                <a:spcPts val="800"/>
              </a:spcAft>
            </a:pPr>
            <a:r>
              <a:rPr lang="fr-FR" sz="2000" kern="0" dirty="0">
                <a:effectLst/>
                <a:latin typeface="Times New Roman" panose="02020603050405020304" pitchFamily="18" charset="0"/>
                <a:ea typeface="SimSun" panose="02010600030101010101" pitchFamily="2" charset="-122"/>
                <a:cs typeface="Times New Roman" panose="02020603050405020304" pitchFamily="18" charset="0"/>
              </a:rPr>
              <a:t>Quelles sont les caractéristiques des espaces verts des logements sociaux et économiques de Ouèdo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ZoneTexte 7">
            <a:extLst>
              <a:ext uri="{FF2B5EF4-FFF2-40B4-BE49-F238E27FC236}">
                <a16:creationId xmlns="" xmlns:a16="http://schemas.microsoft.com/office/drawing/2014/main" id="{FBEF88A6-F683-D938-93E5-76F4C87793E0}"/>
              </a:ext>
            </a:extLst>
          </p:cNvPr>
          <p:cNvSpPr txBox="1"/>
          <p:nvPr/>
        </p:nvSpPr>
        <p:spPr>
          <a:xfrm>
            <a:off x="4298324" y="2608803"/>
            <a:ext cx="6098146" cy="966290"/>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just">
              <a:lnSpc>
                <a:spcPct val="150000"/>
              </a:lnSpc>
              <a:spcAft>
                <a:spcPts val="800"/>
              </a:spcAft>
            </a:pPr>
            <a:r>
              <a:rPr lang="fr-FR" sz="2000" kern="0" dirty="0">
                <a:effectLst/>
                <a:latin typeface="Times New Roman" panose="02020603050405020304" pitchFamily="18" charset="0"/>
                <a:ea typeface="SimSun" panose="02010600030101010101" pitchFamily="2" charset="-122"/>
                <a:cs typeface="Times New Roman" panose="02020603050405020304" pitchFamily="18" charset="0"/>
              </a:rPr>
              <a:t>La politique mise en place pour la gestion de ces espaces verts est-elle durable ?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ZoneTexte 9">
            <a:extLst>
              <a:ext uri="{FF2B5EF4-FFF2-40B4-BE49-F238E27FC236}">
                <a16:creationId xmlns="" xmlns:a16="http://schemas.microsoft.com/office/drawing/2014/main" id="{7B6A8F08-4F3B-E377-3051-E7FCB31A0A25}"/>
              </a:ext>
            </a:extLst>
          </p:cNvPr>
          <p:cNvSpPr txBox="1"/>
          <p:nvPr/>
        </p:nvSpPr>
        <p:spPr>
          <a:xfrm>
            <a:off x="4298324" y="3950603"/>
            <a:ext cx="6098146" cy="966290"/>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lvl="0" algn="just">
              <a:lnSpc>
                <a:spcPct val="150000"/>
              </a:lnSpc>
              <a:spcAft>
                <a:spcPts val="800"/>
              </a:spcAft>
            </a:pPr>
            <a:r>
              <a:rPr lang="fr-FR" sz="2000" kern="0" dirty="0">
                <a:effectLst/>
                <a:latin typeface="Times New Roman" panose="02020603050405020304" pitchFamily="18" charset="0"/>
                <a:ea typeface="SimSun" panose="02010600030101010101" pitchFamily="2" charset="-122"/>
                <a:cs typeface="Times New Roman" panose="02020603050405020304" pitchFamily="18" charset="0"/>
              </a:rPr>
              <a:t>Quelle est la perception des riverains sur les logements sociaux de Ouèdo, leurs espaces verts, et leur gestion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Flèche : droite 31">
            <a:extLst>
              <a:ext uri="{FF2B5EF4-FFF2-40B4-BE49-F238E27FC236}">
                <a16:creationId xmlns="" xmlns:a16="http://schemas.microsoft.com/office/drawing/2014/main" id="{EE4213AD-1FA7-B191-49B6-E64CF8F5AC5D}"/>
              </a:ext>
            </a:extLst>
          </p:cNvPr>
          <p:cNvSpPr/>
          <p:nvPr/>
        </p:nvSpPr>
        <p:spPr>
          <a:xfrm>
            <a:off x="3940934" y="2833352"/>
            <a:ext cx="357389" cy="2318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Flèche : droite 33">
            <a:extLst>
              <a:ext uri="{FF2B5EF4-FFF2-40B4-BE49-F238E27FC236}">
                <a16:creationId xmlns="" xmlns:a16="http://schemas.microsoft.com/office/drawing/2014/main" id="{5441A69F-1DAB-1426-A182-0B3C63922EB0}"/>
              </a:ext>
            </a:extLst>
          </p:cNvPr>
          <p:cNvSpPr/>
          <p:nvPr/>
        </p:nvSpPr>
        <p:spPr>
          <a:xfrm>
            <a:off x="3940933" y="1586905"/>
            <a:ext cx="357389" cy="2318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Flèche : droite 34">
            <a:extLst>
              <a:ext uri="{FF2B5EF4-FFF2-40B4-BE49-F238E27FC236}">
                <a16:creationId xmlns="" xmlns:a16="http://schemas.microsoft.com/office/drawing/2014/main" id="{FE18B564-B0A0-E30F-5D14-55989D2A29A7}"/>
              </a:ext>
            </a:extLst>
          </p:cNvPr>
          <p:cNvSpPr/>
          <p:nvPr/>
        </p:nvSpPr>
        <p:spPr>
          <a:xfrm>
            <a:off x="3963469" y="4270505"/>
            <a:ext cx="357389" cy="2318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7" name="Connecteur droit 36">
            <a:extLst>
              <a:ext uri="{FF2B5EF4-FFF2-40B4-BE49-F238E27FC236}">
                <a16:creationId xmlns="" xmlns:a16="http://schemas.microsoft.com/office/drawing/2014/main" id="{1859911E-F288-D05A-6F0C-897C0C690F2B}"/>
              </a:ext>
            </a:extLst>
          </p:cNvPr>
          <p:cNvCxnSpPr>
            <a:cxnSpLocks/>
            <a:stCxn id="34" idx="1"/>
            <a:endCxn id="35" idx="1"/>
          </p:cNvCxnSpPr>
          <p:nvPr/>
        </p:nvCxnSpPr>
        <p:spPr>
          <a:xfrm>
            <a:off x="3940933" y="1702815"/>
            <a:ext cx="22536" cy="268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 xmlns:a16="http://schemas.microsoft.com/office/drawing/2014/main" id="{E1E51207-ED9A-49D0-9875-661D1A113C05}"/>
              </a:ext>
            </a:extLst>
          </p:cNvPr>
          <p:cNvCxnSpPr>
            <a:stCxn id="32" idx="1"/>
          </p:cNvCxnSpPr>
          <p:nvPr/>
        </p:nvCxnSpPr>
        <p:spPr>
          <a:xfrm flipH="1">
            <a:off x="3551348" y="2949262"/>
            <a:ext cx="389586"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Rectangle : coins arrondis 42">
            <a:extLst>
              <a:ext uri="{FF2B5EF4-FFF2-40B4-BE49-F238E27FC236}">
                <a16:creationId xmlns="" xmlns:a16="http://schemas.microsoft.com/office/drawing/2014/main" id="{498A3F09-442A-9833-71BB-D785886E3BB4}"/>
              </a:ext>
            </a:extLst>
          </p:cNvPr>
          <p:cNvSpPr/>
          <p:nvPr/>
        </p:nvSpPr>
        <p:spPr>
          <a:xfrm>
            <a:off x="1004552" y="2564134"/>
            <a:ext cx="2546795" cy="92356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BE" sz="2400" dirty="0">
                <a:latin typeface="Times New Roman" panose="02020603050405020304" pitchFamily="18" charset="0"/>
                <a:cs typeface="Times New Roman" panose="02020603050405020304" pitchFamily="18" charset="0"/>
              </a:rPr>
              <a:t>QUESTIONS DE RECHERCHE</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58150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 xmlns:a16="http://schemas.microsoft.com/office/drawing/2014/main" id="{BA3294D7-DD80-05E3-0FA5-AB72EDEFCCCF}"/>
              </a:ext>
            </a:extLst>
          </p:cNvPr>
          <p:cNvSpPr txBox="1"/>
          <p:nvPr/>
        </p:nvSpPr>
        <p:spPr>
          <a:xfrm>
            <a:off x="4" y="-29826"/>
            <a:ext cx="12191996" cy="707886"/>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r>
              <a:rPr lang="fr-FR" sz="4000" dirty="0">
                <a:effectLst/>
                <a:latin typeface="Times New Roman" panose="02020603050405020304" pitchFamily="18" charset="0"/>
                <a:ea typeface="Calibri" panose="020F0502020204030204" pitchFamily="34" charset="0"/>
                <a:cs typeface="Times New Roman" panose="02020603050405020304" pitchFamily="18" charset="0"/>
              </a:rPr>
              <a:t>OBJECTIFS DE RECHERCHE</a:t>
            </a:r>
            <a:endParaRPr lang="fr-FR" sz="4000" dirty="0">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 xmlns:a16="http://schemas.microsoft.com/office/drawing/2014/main" id="{79C2E519-9001-9068-ED0C-74A68DBEA33E}"/>
              </a:ext>
            </a:extLst>
          </p:cNvPr>
          <p:cNvSpPr txBox="1"/>
          <p:nvPr/>
        </p:nvSpPr>
        <p:spPr>
          <a:xfrm>
            <a:off x="3431545" y="1238055"/>
            <a:ext cx="2304113"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O</a:t>
            </a:r>
            <a:r>
              <a:rPr lang="fr-FR" sz="2000" dirty="0">
                <a:latin typeface="Times New Roman" panose="02020603050405020304" pitchFamily="18" charset="0"/>
                <a:ea typeface="Calibri" panose="020F0502020204030204" pitchFamily="34" charset="0"/>
                <a:cs typeface="Times New Roman" panose="02020603050405020304" pitchFamily="18" charset="0"/>
              </a:rPr>
              <a:t>bjectif global</a:t>
            </a:r>
            <a:endParaRPr lang="fr-FR" sz="2000"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 xmlns:a16="http://schemas.microsoft.com/office/drawing/2014/main" id="{0581CD02-8BFF-998E-8AA9-E98CA809FC0E}"/>
              </a:ext>
            </a:extLst>
          </p:cNvPr>
          <p:cNvSpPr txBox="1"/>
          <p:nvPr/>
        </p:nvSpPr>
        <p:spPr>
          <a:xfrm>
            <a:off x="6096000" y="1229429"/>
            <a:ext cx="4021428"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O</a:t>
            </a:r>
            <a:r>
              <a:rPr lang="fr-FR" sz="2000" dirty="0">
                <a:latin typeface="Times New Roman" panose="02020603050405020304" pitchFamily="18" charset="0"/>
                <a:ea typeface="Calibri" panose="020F0502020204030204" pitchFamily="34" charset="0"/>
                <a:cs typeface="Times New Roman" panose="02020603050405020304" pitchFamily="18" charset="0"/>
              </a:rPr>
              <a:t>bjectifs spécifiques</a:t>
            </a:r>
            <a:endParaRPr lang="fr-FR" sz="2000" dirty="0">
              <a:latin typeface="Times New Roman" panose="02020603050405020304" pitchFamily="18" charset="0"/>
              <a:cs typeface="Times New Roman" panose="02020603050405020304" pitchFamily="18" charset="0"/>
            </a:endParaRPr>
          </a:p>
        </p:txBody>
      </p:sp>
      <p:sp>
        <p:nvSpPr>
          <p:cNvPr id="6" name="Flèche : bas 5">
            <a:extLst>
              <a:ext uri="{FF2B5EF4-FFF2-40B4-BE49-F238E27FC236}">
                <a16:creationId xmlns="" xmlns:a16="http://schemas.microsoft.com/office/drawing/2014/main" id="{DE583704-511A-28DC-0F3A-ACE4B6A7628E}"/>
              </a:ext>
            </a:extLst>
          </p:cNvPr>
          <p:cNvSpPr/>
          <p:nvPr/>
        </p:nvSpPr>
        <p:spPr>
          <a:xfrm>
            <a:off x="4376131" y="1629539"/>
            <a:ext cx="283871" cy="32043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bas 6">
            <a:extLst>
              <a:ext uri="{FF2B5EF4-FFF2-40B4-BE49-F238E27FC236}">
                <a16:creationId xmlns="" xmlns:a16="http://schemas.microsoft.com/office/drawing/2014/main" id="{4EB0DEF9-22C6-0179-16EF-36DDA4CB303E}"/>
              </a:ext>
            </a:extLst>
          </p:cNvPr>
          <p:cNvSpPr/>
          <p:nvPr/>
        </p:nvSpPr>
        <p:spPr>
          <a:xfrm>
            <a:off x="7964778" y="1605423"/>
            <a:ext cx="283871" cy="4001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 xmlns:a16="http://schemas.microsoft.com/office/drawing/2014/main" id="{836E39FD-7D18-4033-5F2F-2B18F3480B96}"/>
              </a:ext>
            </a:extLst>
          </p:cNvPr>
          <p:cNvSpPr txBox="1"/>
          <p:nvPr/>
        </p:nvSpPr>
        <p:spPr>
          <a:xfrm>
            <a:off x="6096000" y="1848611"/>
            <a:ext cx="4021428" cy="1015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sz="2000" dirty="0">
                <a:effectLst/>
                <a:latin typeface="Times New Roman" panose="02020603050405020304" pitchFamily="18" charset="0"/>
                <a:ea typeface="Calibri" panose="020F0502020204030204" pitchFamily="34" charset="0"/>
              </a:rPr>
              <a:t>Caractériser les espaces verts au sein des logements sociaux et économiques de Ouèdo</a:t>
            </a:r>
            <a:endParaRPr lang="fr-FR" sz="2000" dirty="0"/>
          </a:p>
        </p:txBody>
      </p:sp>
      <p:sp>
        <p:nvSpPr>
          <p:cNvPr id="15" name="ZoneTexte 14">
            <a:extLst>
              <a:ext uri="{FF2B5EF4-FFF2-40B4-BE49-F238E27FC236}">
                <a16:creationId xmlns="" xmlns:a16="http://schemas.microsoft.com/office/drawing/2014/main" id="{C4BAED79-C0CD-D8E6-D2BB-5A94400A9479}"/>
              </a:ext>
            </a:extLst>
          </p:cNvPr>
          <p:cNvSpPr txBox="1"/>
          <p:nvPr/>
        </p:nvSpPr>
        <p:spPr>
          <a:xfrm>
            <a:off x="6096000" y="3146365"/>
            <a:ext cx="4021428" cy="132343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fr-FR" sz="2000" dirty="0">
                <a:effectLst/>
                <a:latin typeface="Times New Roman" panose="02020603050405020304" pitchFamily="18" charset="0"/>
                <a:ea typeface="Calibri" panose="020F0502020204030204" pitchFamily="34" charset="0"/>
              </a:rPr>
              <a:t>Analyser la politique mise en place pour la gestion des espaces verts au sein des logements sociaux et économiques de Ouèdo</a:t>
            </a:r>
            <a:endParaRPr lang="fr-FR" sz="2000" dirty="0"/>
          </a:p>
        </p:txBody>
      </p:sp>
      <p:sp>
        <p:nvSpPr>
          <p:cNvPr id="17" name="ZoneTexte 16">
            <a:extLst>
              <a:ext uri="{FF2B5EF4-FFF2-40B4-BE49-F238E27FC236}">
                <a16:creationId xmlns="" xmlns:a16="http://schemas.microsoft.com/office/drawing/2014/main" id="{DC7AAD98-6276-EA20-31E9-1D1FADD05366}"/>
              </a:ext>
            </a:extLst>
          </p:cNvPr>
          <p:cNvSpPr txBox="1"/>
          <p:nvPr/>
        </p:nvSpPr>
        <p:spPr>
          <a:xfrm>
            <a:off x="6096000" y="4610842"/>
            <a:ext cx="4021428" cy="1015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fr-FR" sz="2000" dirty="0">
                <a:effectLst/>
                <a:latin typeface="Times New Roman" panose="02020603050405020304" pitchFamily="18" charset="0"/>
                <a:ea typeface="Calibri" panose="020F0502020204030204" pitchFamily="34" charset="0"/>
              </a:rPr>
              <a:t>Analyser la perception des riverains sur</a:t>
            </a:r>
            <a:r>
              <a:rPr lang="fr-FR" sz="2000" kern="0" dirty="0">
                <a:effectLst/>
                <a:latin typeface="Times New Roman" panose="02020603050405020304" pitchFamily="18" charset="0"/>
                <a:ea typeface="SimSun" panose="02010600030101010101" pitchFamily="2" charset="-122"/>
              </a:rPr>
              <a:t> les logements, leurs espaces verts et leur gestion</a:t>
            </a:r>
            <a:endParaRPr lang="fr-FR" sz="2000" dirty="0"/>
          </a:p>
        </p:txBody>
      </p:sp>
      <p:sp>
        <p:nvSpPr>
          <p:cNvPr id="18" name="Bouton d’action : vide 17">
            <a:hlinkClick r:id="" action="ppaction://noaction" highlightClick="1"/>
            <a:extLst>
              <a:ext uri="{FF2B5EF4-FFF2-40B4-BE49-F238E27FC236}">
                <a16:creationId xmlns="" xmlns:a16="http://schemas.microsoft.com/office/drawing/2014/main" id="{B07B25BA-F142-583C-6C41-BC6A64835580}"/>
              </a:ext>
            </a:extLst>
          </p:cNvPr>
          <p:cNvSpPr/>
          <p:nvPr/>
        </p:nvSpPr>
        <p:spPr>
          <a:xfrm>
            <a:off x="3431545" y="1949974"/>
            <a:ext cx="2173044" cy="3566946"/>
          </a:xfrm>
          <a:prstGeom prst="actionButtonBlank">
            <a:avLst/>
          </a:prstGeom>
        </p:spPr>
        <p:style>
          <a:lnRef idx="2">
            <a:schemeClr val="accent1"/>
          </a:lnRef>
          <a:fillRef idx="1">
            <a:schemeClr val="lt1"/>
          </a:fillRef>
          <a:effectRef idx="0">
            <a:schemeClr val="accent1"/>
          </a:effectRef>
          <a:fontRef idx="minor">
            <a:schemeClr val="dk1"/>
          </a:fontRef>
        </p:style>
        <p:txBody>
          <a:bodyPr rtlCol="0" anchor="ctr"/>
          <a:lstStyle/>
          <a:p>
            <a:pPr algn="ctr">
              <a:lnSpc>
                <a:spcPct val="150000"/>
              </a:lnSpc>
            </a:pPr>
            <a:r>
              <a:rPr lang="fr-FR" sz="2000" dirty="0">
                <a:latin typeface="Times New Roman" panose="02020603050405020304" pitchFamily="18" charset="0"/>
                <a:cs typeface="Times New Roman" panose="02020603050405020304" pitchFamily="18" charset="0"/>
              </a:rPr>
              <a:t>Etudier la gestion des espaces verts au sein des logements sociaux de Ouèdo</a:t>
            </a:r>
          </a:p>
        </p:txBody>
      </p:sp>
      <p:sp>
        <p:nvSpPr>
          <p:cNvPr id="19" name="Flèche : droite 18">
            <a:extLst>
              <a:ext uri="{FF2B5EF4-FFF2-40B4-BE49-F238E27FC236}">
                <a16:creationId xmlns="" xmlns:a16="http://schemas.microsoft.com/office/drawing/2014/main" id="{87F09B5B-C881-19C8-6B02-C8DEE9AD123C}"/>
              </a:ext>
            </a:extLst>
          </p:cNvPr>
          <p:cNvSpPr/>
          <p:nvPr/>
        </p:nvSpPr>
        <p:spPr>
          <a:xfrm>
            <a:off x="5847009" y="2411639"/>
            <a:ext cx="248992" cy="1512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Flèche : droite 19">
            <a:extLst>
              <a:ext uri="{FF2B5EF4-FFF2-40B4-BE49-F238E27FC236}">
                <a16:creationId xmlns="" xmlns:a16="http://schemas.microsoft.com/office/drawing/2014/main" id="{2D772B3C-FDD9-1442-ACF0-52D00B83444F}"/>
              </a:ext>
            </a:extLst>
          </p:cNvPr>
          <p:cNvSpPr/>
          <p:nvPr/>
        </p:nvSpPr>
        <p:spPr>
          <a:xfrm>
            <a:off x="5847008" y="3657819"/>
            <a:ext cx="248992" cy="1512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Flèche : droite 20">
            <a:extLst>
              <a:ext uri="{FF2B5EF4-FFF2-40B4-BE49-F238E27FC236}">
                <a16:creationId xmlns="" xmlns:a16="http://schemas.microsoft.com/office/drawing/2014/main" id="{A0062DE1-95E9-ACC3-2A9B-D8CE49613F4F}"/>
              </a:ext>
            </a:extLst>
          </p:cNvPr>
          <p:cNvSpPr/>
          <p:nvPr/>
        </p:nvSpPr>
        <p:spPr>
          <a:xfrm>
            <a:off x="5847008" y="4858148"/>
            <a:ext cx="248992" cy="1512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3" name="Connecteur droit 22">
            <a:extLst>
              <a:ext uri="{FF2B5EF4-FFF2-40B4-BE49-F238E27FC236}">
                <a16:creationId xmlns="" xmlns:a16="http://schemas.microsoft.com/office/drawing/2014/main" id="{97CC494C-C212-74F4-226D-F013CA63AA97}"/>
              </a:ext>
            </a:extLst>
          </p:cNvPr>
          <p:cNvCxnSpPr>
            <a:stCxn id="19" idx="1"/>
            <a:endCxn id="21" idx="1"/>
          </p:cNvCxnSpPr>
          <p:nvPr/>
        </p:nvCxnSpPr>
        <p:spPr>
          <a:xfrm flipH="1">
            <a:off x="5847008" y="2487268"/>
            <a:ext cx="1" cy="2446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 xmlns:a16="http://schemas.microsoft.com/office/drawing/2014/main" id="{7BADD854-2FCA-EE29-9A3D-1B440DBB0D03}"/>
              </a:ext>
            </a:extLst>
          </p:cNvPr>
          <p:cNvCxnSpPr>
            <a:cxnSpLocks/>
          </p:cNvCxnSpPr>
          <p:nvPr/>
        </p:nvCxnSpPr>
        <p:spPr>
          <a:xfrm>
            <a:off x="5604589" y="3746528"/>
            <a:ext cx="242419" cy="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6203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 xmlns:a16="http://schemas.microsoft.com/office/drawing/2014/main" id="{EC0610AF-B64D-E69D-AEB3-A40C9F843112}"/>
              </a:ext>
            </a:extLst>
          </p:cNvPr>
          <p:cNvSpPr txBox="1"/>
          <p:nvPr/>
        </p:nvSpPr>
        <p:spPr>
          <a:xfrm>
            <a:off x="0" y="0"/>
            <a:ext cx="12191999" cy="707886"/>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r>
              <a:rPr lang="fr-FR" sz="4000" b="1" dirty="0">
                <a:effectLst/>
                <a:latin typeface="Times New Roman" panose="02020603050405020304" pitchFamily="18" charset="0"/>
                <a:ea typeface="Calibri" panose="020F0502020204030204" pitchFamily="34" charset="0"/>
                <a:cs typeface="Times New Roman" panose="02020603050405020304" pitchFamily="18" charset="0"/>
              </a:rPr>
              <a:t>APPROCHE METHODOLOGIQUE</a:t>
            </a:r>
            <a:endParaRPr lang="fr-FR" sz="4000" b="1" dirty="0">
              <a:latin typeface="Times New Roman" panose="02020603050405020304" pitchFamily="18" charset="0"/>
              <a:cs typeface="Times New Roman" panose="02020603050405020304" pitchFamily="18" charset="0"/>
            </a:endParaRPr>
          </a:p>
        </p:txBody>
      </p:sp>
      <p:sp>
        <p:nvSpPr>
          <p:cNvPr id="24" name="ZoneTexte 23">
            <a:extLst>
              <a:ext uri="{FF2B5EF4-FFF2-40B4-BE49-F238E27FC236}">
                <a16:creationId xmlns="" xmlns:a16="http://schemas.microsoft.com/office/drawing/2014/main" id="{7BB27368-D8A3-5A9D-0A49-C7389079141B}"/>
              </a:ext>
            </a:extLst>
          </p:cNvPr>
          <p:cNvSpPr txBox="1"/>
          <p:nvPr/>
        </p:nvSpPr>
        <p:spPr>
          <a:xfrm>
            <a:off x="999779" y="3429000"/>
            <a:ext cx="6093822" cy="461665"/>
          </a:xfrm>
          <a:prstGeom prst="rect">
            <a:avLst/>
          </a:prstGeom>
          <a:noFill/>
        </p:spPr>
        <p:txBody>
          <a:bodyPr wrap="square">
            <a:spAutoFit/>
          </a:bodyPr>
          <a:lstStyle/>
          <a:p>
            <a:pPr marL="342900" indent="-342900">
              <a:buFont typeface="Wingdings" panose="05000000000000000000" pitchFamily="2" charset="2"/>
              <a:buChar char="Ø"/>
            </a:pPr>
            <a:r>
              <a:rPr lang="fr-FR" sz="2400" b="1" dirty="0">
                <a:effectLst/>
                <a:latin typeface="Times New Roman" panose="02020603050405020304" pitchFamily="18" charset="0"/>
                <a:ea typeface="Calibri" panose="020F0502020204030204" pitchFamily="34" charset="0"/>
              </a:rPr>
              <a:t>Matériel et Outils de collecte de données</a:t>
            </a:r>
            <a:endParaRPr lang="fr-FR" sz="2400" b="1" dirty="0"/>
          </a:p>
        </p:txBody>
      </p:sp>
      <p:sp>
        <p:nvSpPr>
          <p:cNvPr id="27" name="ZoneTexte 26">
            <a:extLst>
              <a:ext uri="{FF2B5EF4-FFF2-40B4-BE49-F238E27FC236}">
                <a16:creationId xmlns="" xmlns:a16="http://schemas.microsoft.com/office/drawing/2014/main" id="{F7B583E9-078C-E738-4044-CDFCB08FB32F}"/>
              </a:ext>
            </a:extLst>
          </p:cNvPr>
          <p:cNvSpPr txBox="1"/>
          <p:nvPr/>
        </p:nvSpPr>
        <p:spPr>
          <a:xfrm>
            <a:off x="1728804" y="4078490"/>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Grille d’observation </a:t>
            </a:r>
            <a:endParaRPr lang="fr-FR" sz="2000" dirty="0"/>
          </a:p>
        </p:txBody>
      </p:sp>
      <p:sp>
        <p:nvSpPr>
          <p:cNvPr id="29" name="ZoneTexte 28">
            <a:extLst>
              <a:ext uri="{FF2B5EF4-FFF2-40B4-BE49-F238E27FC236}">
                <a16:creationId xmlns="" xmlns:a16="http://schemas.microsoft.com/office/drawing/2014/main" id="{84819B7F-347D-9A03-1393-C5733A34B7B7}"/>
              </a:ext>
            </a:extLst>
          </p:cNvPr>
          <p:cNvSpPr txBox="1"/>
          <p:nvPr/>
        </p:nvSpPr>
        <p:spPr>
          <a:xfrm>
            <a:off x="1728804" y="4590853"/>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Fiche d’inventaire floristique </a:t>
            </a:r>
          </a:p>
        </p:txBody>
      </p:sp>
      <p:sp>
        <p:nvSpPr>
          <p:cNvPr id="31" name="ZoneTexte 30">
            <a:extLst>
              <a:ext uri="{FF2B5EF4-FFF2-40B4-BE49-F238E27FC236}">
                <a16:creationId xmlns="" xmlns:a16="http://schemas.microsoft.com/office/drawing/2014/main" id="{7C8A4CF6-6301-605F-A081-20910A46B14E}"/>
              </a:ext>
            </a:extLst>
          </p:cNvPr>
          <p:cNvSpPr txBox="1"/>
          <p:nvPr/>
        </p:nvSpPr>
        <p:spPr>
          <a:xfrm>
            <a:off x="1728804" y="5722390"/>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Appareil photo </a:t>
            </a:r>
            <a:endParaRPr lang="fr-FR" sz="2000" dirty="0"/>
          </a:p>
        </p:txBody>
      </p:sp>
      <p:sp>
        <p:nvSpPr>
          <p:cNvPr id="33" name="ZoneTexte 32">
            <a:extLst>
              <a:ext uri="{FF2B5EF4-FFF2-40B4-BE49-F238E27FC236}">
                <a16:creationId xmlns="" xmlns:a16="http://schemas.microsoft.com/office/drawing/2014/main" id="{BD07F633-0004-5521-E53A-D7DAE58AF335}"/>
              </a:ext>
            </a:extLst>
          </p:cNvPr>
          <p:cNvSpPr txBox="1"/>
          <p:nvPr/>
        </p:nvSpPr>
        <p:spPr>
          <a:xfrm>
            <a:off x="1728804" y="5190570"/>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Questionnaire</a:t>
            </a:r>
            <a:endParaRPr lang="fr-FR" sz="2000" dirty="0"/>
          </a:p>
        </p:txBody>
      </p:sp>
      <p:sp>
        <p:nvSpPr>
          <p:cNvPr id="34" name="ZoneTexte 33">
            <a:extLst>
              <a:ext uri="{FF2B5EF4-FFF2-40B4-BE49-F238E27FC236}">
                <a16:creationId xmlns="" xmlns:a16="http://schemas.microsoft.com/office/drawing/2014/main" id="{ADC062CA-CF72-A1AD-41DF-311D3FF2A6FE}"/>
              </a:ext>
            </a:extLst>
          </p:cNvPr>
          <p:cNvSpPr txBox="1"/>
          <p:nvPr/>
        </p:nvSpPr>
        <p:spPr>
          <a:xfrm>
            <a:off x="1728804" y="6205769"/>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L’application Kobocollect</a:t>
            </a:r>
            <a:endParaRPr lang="fr-FR" sz="2000" dirty="0"/>
          </a:p>
        </p:txBody>
      </p:sp>
      <p:sp>
        <p:nvSpPr>
          <p:cNvPr id="3" name="ZoneTexte 2">
            <a:extLst>
              <a:ext uri="{FF2B5EF4-FFF2-40B4-BE49-F238E27FC236}">
                <a16:creationId xmlns="" xmlns:a16="http://schemas.microsoft.com/office/drawing/2014/main" id="{41E23356-C559-27CC-7D0E-C9A374E15E35}"/>
              </a:ext>
            </a:extLst>
          </p:cNvPr>
          <p:cNvSpPr txBox="1"/>
          <p:nvPr/>
        </p:nvSpPr>
        <p:spPr>
          <a:xfrm>
            <a:off x="995455" y="850231"/>
            <a:ext cx="6098146" cy="461665"/>
          </a:xfrm>
          <a:prstGeom prst="rect">
            <a:avLst/>
          </a:prstGeom>
          <a:noFill/>
        </p:spPr>
        <p:txBody>
          <a:bodyPr wrap="square">
            <a:spAutoFit/>
          </a:bodyPr>
          <a:lstStyle/>
          <a:p>
            <a:pPr marL="342900" indent="-342900">
              <a:buFont typeface="Wingdings" panose="05000000000000000000" pitchFamily="2" charset="2"/>
              <a:buChar char="Ø"/>
            </a:pPr>
            <a:r>
              <a:rPr lang="fr-BE" sz="2400" b="1" dirty="0">
                <a:latin typeface="Times New Roman" panose="02020603050405020304" pitchFamily="18" charset="0"/>
                <a:cs typeface="Times New Roman" panose="02020603050405020304" pitchFamily="18" charset="0"/>
              </a:rPr>
              <a:t>D</a:t>
            </a:r>
            <a:r>
              <a:rPr lang="fr-FR" sz="2400" b="1" dirty="0">
                <a:latin typeface="Times New Roman" panose="02020603050405020304" pitchFamily="18" charset="0"/>
                <a:cs typeface="Times New Roman" panose="02020603050405020304" pitchFamily="18" charset="0"/>
              </a:rPr>
              <a:t>onnées utlisées</a:t>
            </a:r>
          </a:p>
        </p:txBody>
      </p:sp>
      <p:sp>
        <p:nvSpPr>
          <p:cNvPr id="4" name="ZoneTexte 3">
            <a:extLst>
              <a:ext uri="{FF2B5EF4-FFF2-40B4-BE49-F238E27FC236}">
                <a16:creationId xmlns="" xmlns:a16="http://schemas.microsoft.com/office/drawing/2014/main" id="{5B721216-F03A-8C2C-097C-CB6A7DBA8FC6}"/>
              </a:ext>
            </a:extLst>
          </p:cNvPr>
          <p:cNvSpPr txBox="1"/>
          <p:nvPr/>
        </p:nvSpPr>
        <p:spPr>
          <a:xfrm>
            <a:off x="1571900" y="1467838"/>
            <a:ext cx="9135429" cy="1015663"/>
          </a:xfrm>
          <a:prstGeom prst="rect">
            <a:avLst/>
          </a:prstGeom>
          <a:noFill/>
        </p:spPr>
        <p:txBody>
          <a:bodyPr wrap="square">
            <a:spAutoFit/>
          </a:bodyPr>
          <a:lstStyle/>
          <a:p>
            <a:pPr marL="342900" indent="-342900" algn="just">
              <a:buFont typeface="Arial" panose="020B0604020202020204" pitchFamily="34" charset="0"/>
              <a:buChar char="•"/>
            </a:pPr>
            <a:r>
              <a:rPr lang="fr-BE" sz="2000" dirty="0">
                <a:latin typeface="Times New Roman" panose="02020603050405020304" pitchFamily="18" charset="0"/>
                <a:cs typeface="Times New Roman" panose="02020603050405020304" pitchFamily="18" charset="0"/>
              </a:rPr>
              <a:t>Données quantitative et qualitatives auprès des riverains ,des agents d’entretien ,des autorités locales et des représentants des structures en charge de l’entretien et de la gestion des espaces verts de la nouvelle cité de Ouèdo</a:t>
            </a:r>
            <a:endParaRPr lang="fr-FR" sz="2000"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 xmlns:a16="http://schemas.microsoft.com/office/drawing/2014/main" id="{9E8A1B53-CE9D-581F-CC24-DF2CA18BFA60}"/>
              </a:ext>
            </a:extLst>
          </p:cNvPr>
          <p:cNvSpPr txBox="1"/>
          <p:nvPr/>
        </p:nvSpPr>
        <p:spPr>
          <a:xfrm>
            <a:off x="995455" y="2621553"/>
            <a:ext cx="7711094" cy="461665"/>
          </a:xfrm>
          <a:prstGeom prst="rect">
            <a:avLst/>
          </a:prstGeom>
          <a:noFill/>
        </p:spPr>
        <p:txBody>
          <a:bodyPr wrap="square">
            <a:spAutoFit/>
          </a:bodyPr>
          <a:lstStyle/>
          <a:p>
            <a:pPr marL="342900" indent="-342900">
              <a:buFont typeface="Wingdings" panose="05000000000000000000" pitchFamily="2" charset="2"/>
              <a:buChar char="Ø"/>
            </a:pPr>
            <a:r>
              <a:rPr lang="fr-BE" sz="2400" b="1" dirty="0">
                <a:latin typeface="Times New Roman" panose="02020603050405020304" pitchFamily="18" charset="0"/>
                <a:cs typeface="Times New Roman" panose="02020603050405020304" pitchFamily="18" charset="0"/>
              </a:rPr>
              <a:t>Echantillon</a:t>
            </a:r>
            <a:r>
              <a:rPr lang="fr-BE" sz="2000" b="1" dirty="0">
                <a:latin typeface="Times New Roman" panose="02020603050405020304" pitchFamily="18" charset="0"/>
                <a:cs typeface="Times New Roman" panose="02020603050405020304" pitchFamily="18" charset="0"/>
              </a:rPr>
              <a:t> </a:t>
            </a:r>
            <a:r>
              <a:rPr lang="fr-BE" sz="2000" dirty="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 xmlns:a16="http://schemas.microsoft.com/office/drawing/2014/main" id="{A8449B6A-957C-6F9A-0150-79B7466040BC}"/>
              </a:ext>
            </a:extLst>
          </p:cNvPr>
          <p:cNvSpPr txBox="1"/>
          <p:nvPr/>
        </p:nvSpPr>
        <p:spPr>
          <a:xfrm>
            <a:off x="3238054" y="2683108"/>
            <a:ext cx="7711094" cy="400110"/>
          </a:xfrm>
          <a:prstGeom prst="rect">
            <a:avLst/>
          </a:prstGeom>
          <a:noFill/>
        </p:spPr>
        <p:txBody>
          <a:bodyPr wrap="square">
            <a:spAutoFit/>
          </a:bodyPr>
          <a:lstStyle/>
          <a:p>
            <a:r>
              <a:rPr lang="fr-BE" sz="2000" dirty="0">
                <a:latin typeface="Times New Roman" panose="02020603050405020304" pitchFamily="18" charset="0"/>
                <a:cs typeface="Times New Roman" panose="02020603050405020304" pitchFamily="18" charset="0"/>
              </a:rPr>
              <a:t> 73 personnes enquêtées</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28373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 xmlns:a16="http://schemas.microsoft.com/office/drawing/2014/main" id="{45806C9C-0241-F5F9-AAF4-348597D3C5F8}"/>
              </a:ext>
            </a:extLst>
          </p:cNvPr>
          <p:cNvSpPr txBox="1"/>
          <p:nvPr/>
        </p:nvSpPr>
        <p:spPr>
          <a:xfrm>
            <a:off x="1469678" y="122761"/>
            <a:ext cx="6093822" cy="579967"/>
          </a:xfrm>
          <a:prstGeom prst="rect">
            <a:avLst/>
          </a:prstGeom>
          <a:noFill/>
        </p:spPr>
        <p:txBody>
          <a:bodyPr wrap="square">
            <a:spAutoFit/>
          </a:bodyPr>
          <a:lstStyle/>
          <a:p>
            <a:pPr marL="285750" indent="-285750" algn="just">
              <a:lnSpc>
                <a:spcPct val="150000"/>
              </a:lnSpc>
              <a:spcBef>
                <a:spcPts val="200"/>
              </a:spcBef>
              <a:buFont typeface="Wingdings" panose="05000000000000000000" pitchFamily="2" charset="2"/>
              <a:buChar char="Ø"/>
            </a:pPr>
            <a:r>
              <a:rPr lang="fr-F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Technique de collecte des données  </a:t>
            </a:r>
          </a:p>
        </p:txBody>
      </p:sp>
      <p:sp>
        <p:nvSpPr>
          <p:cNvPr id="7" name="ZoneTexte 6">
            <a:extLst>
              <a:ext uri="{FF2B5EF4-FFF2-40B4-BE49-F238E27FC236}">
                <a16:creationId xmlns="" xmlns:a16="http://schemas.microsoft.com/office/drawing/2014/main" id="{4E0CB085-FD11-F829-A5CC-B4A55A4368C1}"/>
              </a:ext>
            </a:extLst>
          </p:cNvPr>
          <p:cNvSpPr txBox="1"/>
          <p:nvPr/>
        </p:nvSpPr>
        <p:spPr>
          <a:xfrm>
            <a:off x="2307727" y="817410"/>
            <a:ext cx="6093822" cy="498663"/>
          </a:xfrm>
          <a:prstGeom prst="rect">
            <a:avLst/>
          </a:prstGeom>
          <a:noFill/>
        </p:spPr>
        <p:txBody>
          <a:bodyPr wrap="square">
            <a:spAutoFit/>
          </a:bodyPr>
          <a:lstStyle/>
          <a:p>
            <a:pPr marL="285750" indent="-285750" algn="just">
              <a:lnSpc>
                <a:spcPct val="150000"/>
              </a:lnSpc>
              <a:spcBef>
                <a:spcPts val="200"/>
              </a:spcBef>
              <a:buFont typeface="Arial" panose="020B0604020202020204" pitchFamily="34" charset="0"/>
              <a:buChar char="•"/>
            </a:pPr>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Recherche documentaire</a:t>
            </a:r>
          </a:p>
        </p:txBody>
      </p:sp>
      <p:sp>
        <p:nvSpPr>
          <p:cNvPr id="9" name="ZoneTexte 8">
            <a:extLst>
              <a:ext uri="{FF2B5EF4-FFF2-40B4-BE49-F238E27FC236}">
                <a16:creationId xmlns="" xmlns:a16="http://schemas.microsoft.com/office/drawing/2014/main" id="{2A66BDFE-3833-FB9F-1B59-27D1008A84D0}"/>
              </a:ext>
            </a:extLst>
          </p:cNvPr>
          <p:cNvSpPr txBox="1"/>
          <p:nvPr/>
        </p:nvSpPr>
        <p:spPr>
          <a:xfrm>
            <a:off x="2307727" y="1907339"/>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Observation directe</a:t>
            </a:r>
            <a:endParaRPr lang="fr-FR" sz="2000" dirty="0"/>
          </a:p>
        </p:txBody>
      </p:sp>
      <p:sp>
        <p:nvSpPr>
          <p:cNvPr id="11" name="ZoneTexte 10">
            <a:extLst>
              <a:ext uri="{FF2B5EF4-FFF2-40B4-BE49-F238E27FC236}">
                <a16:creationId xmlns="" xmlns:a16="http://schemas.microsoft.com/office/drawing/2014/main" id="{D31441AE-1ADE-DD7E-F187-AA178FAB8DF9}"/>
              </a:ext>
            </a:extLst>
          </p:cNvPr>
          <p:cNvSpPr txBox="1"/>
          <p:nvPr/>
        </p:nvSpPr>
        <p:spPr>
          <a:xfrm>
            <a:off x="2307727" y="2433498"/>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Entretiens</a:t>
            </a:r>
            <a:r>
              <a:rPr lang="fr-FR" sz="2000" b="1" dirty="0">
                <a:effectLst/>
                <a:latin typeface="Times New Roman" panose="02020603050405020304" pitchFamily="18" charset="0"/>
                <a:ea typeface="Calibri" panose="020F0502020204030204" pitchFamily="34" charset="0"/>
              </a:rPr>
              <a:t> </a:t>
            </a:r>
            <a:r>
              <a:rPr lang="fr-FR" sz="2000" dirty="0">
                <a:effectLst/>
                <a:latin typeface="Times New Roman" panose="02020603050405020304" pitchFamily="18" charset="0"/>
                <a:ea typeface="Calibri" panose="020F0502020204030204" pitchFamily="34" charset="0"/>
              </a:rPr>
              <a:t>semi-structurés</a:t>
            </a:r>
            <a:endParaRPr lang="fr-FR" sz="2000" dirty="0"/>
          </a:p>
        </p:txBody>
      </p:sp>
      <p:sp>
        <p:nvSpPr>
          <p:cNvPr id="13" name="ZoneTexte 12">
            <a:extLst>
              <a:ext uri="{FF2B5EF4-FFF2-40B4-BE49-F238E27FC236}">
                <a16:creationId xmlns="" xmlns:a16="http://schemas.microsoft.com/office/drawing/2014/main" id="{F88280D3-EA8D-DD3B-5DCF-C8573790A45F}"/>
              </a:ext>
            </a:extLst>
          </p:cNvPr>
          <p:cNvSpPr txBox="1"/>
          <p:nvPr/>
        </p:nvSpPr>
        <p:spPr>
          <a:xfrm>
            <a:off x="2307727" y="2934685"/>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Inventaire floristique </a:t>
            </a:r>
            <a:endParaRPr lang="fr-FR" sz="2000" dirty="0"/>
          </a:p>
        </p:txBody>
      </p:sp>
      <p:sp>
        <p:nvSpPr>
          <p:cNvPr id="15" name="ZoneTexte 14">
            <a:extLst>
              <a:ext uri="{FF2B5EF4-FFF2-40B4-BE49-F238E27FC236}">
                <a16:creationId xmlns="" xmlns:a16="http://schemas.microsoft.com/office/drawing/2014/main" id="{4EAD7A49-6B13-3BF3-4D66-AD8CAFCAC92E}"/>
              </a:ext>
            </a:extLst>
          </p:cNvPr>
          <p:cNvSpPr txBox="1"/>
          <p:nvPr/>
        </p:nvSpPr>
        <p:spPr>
          <a:xfrm>
            <a:off x="2307727" y="3420706"/>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Entretiens individuels </a:t>
            </a:r>
            <a:endParaRPr lang="fr-FR" sz="2000" dirty="0"/>
          </a:p>
        </p:txBody>
      </p:sp>
      <p:sp>
        <p:nvSpPr>
          <p:cNvPr id="18" name="ZoneTexte 17">
            <a:extLst>
              <a:ext uri="{FF2B5EF4-FFF2-40B4-BE49-F238E27FC236}">
                <a16:creationId xmlns="" xmlns:a16="http://schemas.microsoft.com/office/drawing/2014/main" id="{EDA91F5F-39D0-7374-FD5D-C193E941FB8E}"/>
              </a:ext>
            </a:extLst>
          </p:cNvPr>
          <p:cNvSpPr txBox="1"/>
          <p:nvPr/>
        </p:nvSpPr>
        <p:spPr>
          <a:xfrm>
            <a:off x="1632117" y="4022971"/>
            <a:ext cx="6093822" cy="461665"/>
          </a:xfrm>
          <a:prstGeom prst="rect">
            <a:avLst/>
          </a:prstGeom>
          <a:noFill/>
        </p:spPr>
        <p:txBody>
          <a:bodyPr wrap="square">
            <a:spAutoFit/>
          </a:bodyPr>
          <a:lstStyle/>
          <a:p>
            <a:pPr marL="285750" indent="-285750">
              <a:buFont typeface="Wingdings" panose="05000000000000000000" pitchFamily="2" charset="2"/>
              <a:buChar char="Ø"/>
            </a:pPr>
            <a:r>
              <a:rPr lang="fr-FR" sz="2400" b="1" dirty="0">
                <a:effectLst/>
                <a:latin typeface="Times New Roman" panose="02020603050405020304" pitchFamily="18" charset="0"/>
                <a:ea typeface="Calibri" panose="020F0502020204030204" pitchFamily="34" charset="0"/>
              </a:rPr>
              <a:t>Traitement et analyse des résultats</a:t>
            </a:r>
            <a:endParaRPr lang="fr-FR" sz="2400" b="1" dirty="0"/>
          </a:p>
        </p:txBody>
      </p:sp>
      <p:sp>
        <p:nvSpPr>
          <p:cNvPr id="20" name="ZoneTexte 19">
            <a:extLst>
              <a:ext uri="{FF2B5EF4-FFF2-40B4-BE49-F238E27FC236}">
                <a16:creationId xmlns="" xmlns:a16="http://schemas.microsoft.com/office/drawing/2014/main" id="{57E905B1-EF26-EB69-97C6-745F689E26F5}"/>
              </a:ext>
            </a:extLst>
          </p:cNvPr>
          <p:cNvSpPr txBox="1"/>
          <p:nvPr/>
        </p:nvSpPr>
        <p:spPr>
          <a:xfrm>
            <a:off x="2204696" y="4999490"/>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le tableur Excel pour la réalisation des graphiques </a:t>
            </a:r>
            <a:endParaRPr lang="fr-FR" sz="2000" dirty="0"/>
          </a:p>
        </p:txBody>
      </p:sp>
      <p:sp>
        <p:nvSpPr>
          <p:cNvPr id="22" name="ZoneTexte 21">
            <a:extLst>
              <a:ext uri="{FF2B5EF4-FFF2-40B4-BE49-F238E27FC236}">
                <a16:creationId xmlns="" xmlns:a16="http://schemas.microsoft.com/office/drawing/2014/main" id="{C575D429-709B-8B5B-59C6-D5AA680C37BE}"/>
              </a:ext>
            </a:extLst>
          </p:cNvPr>
          <p:cNvSpPr txBox="1"/>
          <p:nvPr/>
        </p:nvSpPr>
        <p:spPr>
          <a:xfrm>
            <a:off x="2204696" y="5640480"/>
            <a:ext cx="6093822" cy="400110"/>
          </a:xfrm>
          <a:prstGeom prst="rect">
            <a:avLst/>
          </a:prstGeom>
          <a:noFill/>
        </p:spPr>
        <p:txBody>
          <a:bodyPr wrap="square">
            <a:spAutoFit/>
          </a:bodyPr>
          <a:lstStyle/>
          <a:p>
            <a:pPr marL="285750" indent="-285750">
              <a:buFont typeface="Arial" panose="020B0604020202020204" pitchFamily="34" charset="0"/>
              <a:buChar char="•"/>
            </a:pPr>
            <a:r>
              <a:rPr lang="fr-FR" sz="2000" dirty="0">
                <a:effectLst/>
                <a:latin typeface="Times New Roman" panose="02020603050405020304" pitchFamily="18" charset="0"/>
                <a:ea typeface="Calibri" panose="020F0502020204030204" pitchFamily="34" charset="0"/>
              </a:rPr>
              <a:t>Word pour la mise en forme de texte</a:t>
            </a:r>
            <a:endParaRPr lang="fr-FR" sz="2000" dirty="0"/>
          </a:p>
        </p:txBody>
      </p:sp>
      <p:sp>
        <p:nvSpPr>
          <p:cNvPr id="2" name="ZoneTexte 1">
            <a:extLst>
              <a:ext uri="{FF2B5EF4-FFF2-40B4-BE49-F238E27FC236}">
                <a16:creationId xmlns="" xmlns:a16="http://schemas.microsoft.com/office/drawing/2014/main" id="{61615966-E048-181C-5AB1-5B02F91BA272}"/>
              </a:ext>
            </a:extLst>
          </p:cNvPr>
          <p:cNvSpPr txBox="1"/>
          <p:nvPr/>
        </p:nvSpPr>
        <p:spPr>
          <a:xfrm>
            <a:off x="2307727" y="1421318"/>
            <a:ext cx="6093822" cy="400110"/>
          </a:xfrm>
          <a:prstGeom prst="rect">
            <a:avLst/>
          </a:prstGeom>
          <a:noFill/>
        </p:spPr>
        <p:txBody>
          <a:bodyPr wrap="square">
            <a:spAutoFit/>
          </a:bodyPr>
          <a:lstStyle/>
          <a:p>
            <a:pPr marL="285750" indent="-285750">
              <a:buFont typeface="Arial" panose="020B0604020202020204" pitchFamily="34" charset="0"/>
              <a:buChar char="•"/>
            </a:pPr>
            <a:r>
              <a:rPr lang="fr-BE" sz="2000" dirty="0">
                <a:effectLst/>
                <a:latin typeface="Times New Roman" panose="02020603050405020304" pitchFamily="18" charset="0"/>
                <a:ea typeface="Calibri" panose="020F0502020204030204" pitchFamily="34" charset="0"/>
              </a:rPr>
              <a:t>Enquête de terrain</a:t>
            </a:r>
            <a:endParaRPr lang="fr-FR" sz="2000" dirty="0"/>
          </a:p>
        </p:txBody>
      </p:sp>
    </p:spTree>
    <p:extLst>
      <p:ext uri="{BB962C8B-B14F-4D97-AF65-F5344CB8AC3E}">
        <p14:creationId xmlns:p14="http://schemas.microsoft.com/office/powerpoint/2010/main" val="27008432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 xmlns:a16="http://schemas.microsoft.com/office/drawing/2014/main" id="{1F7005DC-D30F-F298-C1D5-234EDA9777C1}"/>
              </a:ext>
            </a:extLst>
          </p:cNvPr>
          <p:cNvSpPr txBox="1"/>
          <p:nvPr/>
        </p:nvSpPr>
        <p:spPr>
          <a:xfrm>
            <a:off x="1" y="-2823"/>
            <a:ext cx="12192000" cy="579967"/>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lnSpc>
                <a:spcPct val="150000"/>
              </a:lnSpc>
              <a:spcBef>
                <a:spcPts val="800"/>
              </a:spcBef>
              <a:spcAft>
                <a:spcPts val="400"/>
              </a:spcAft>
            </a:pPr>
            <a:r>
              <a:rPr lang="fr-BE"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R 1: </a:t>
            </a:r>
            <a:r>
              <a:rPr lang="fr-FR" sz="2400" b="1" dirty="0">
                <a:latin typeface="Times New Roman" panose="02020603050405020304" pitchFamily="18" charset="0"/>
                <a:cs typeface="Times New Roman" panose="02020603050405020304" pitchFamily="18" charset="0"/>
              </a:rPr>
              <a:t>Caractérisation des espaces verts des logements sociaux et économiques de Ouèdo</a:t>
            </a:r>
          </a:p>
        </p:txBody>
      </p:sp>
      <p:sp>
        <p:nvSpPr>
          <p:cNvPr id="4" name="ZoneTexte 3">
            <a:extLst>
              <a:ext uri="{FF2B5EF4-FFF2-40B4-BE49-F238E27FC236}">
                <a16:creationId xmlns="" xmlns:a16="http://schemas.microsoft.com/office/drawing/2014/main" id="{3AB9FE38-C32C-0381-8AE5-19C1D8166C72}"/>
              </a:ext>
            </a:extLst>
          </p:cNvPr>
          <p:cNvSpPr txBox="1"/>
          <p:nvPr/>
        </p:nvSpPr>
        <p:spPr>
          <a:xfrm>
            <a:off x="522272" y="786366"/>
            <a:ext cx="6098146" cy="498663"/>
          </a:xfrm>
          <a:prstGeom prst="rect">
            <a:avLst/>
          </a:prstGeom>
          <a:noFill/>
        </p:spPr>
        <p:txBody>
          <a:bodyPr wrap="square">
            <a:spAutoFit/>
          </a:bodyPr>
          <a:lstStyle/>
          <a:p>
            <a:pPr algn="ctr">
              <a:lnSpc>
                <a:spcPct val="150000"/>
              </a:lnSpc>
              <a:spcBef>
                <a:spcPts val="800"/>
              </a:spcBef>
              <a:spcAft>
                <a:spcPts val="400"/>
              </a:spcAft>
              <a:buNone/>
            </a:pPr>
            <a:r>
              <a:rPr lang="fr-FR"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1-1 Typologie des espaces verts de la cité de Ouèdo</a:t>
            </a:r>
          </a:p>
        </p:txBody>
      </p:sp>
      <p:sp>
        <p:nvSpPr>
          <p:cNvPr id="5" name="ZoneTexte 4">
            <a:extLst>
              <a:ext uri="{FF2B5EF4-FFF2-40B4-BE49-F238E27FC236}">
                <a16:creationId xmlns="" xmlns:a16="http://schemas.microsoft.com/office/drawing/2014/main" id="{7CA81DF1-E7B9-43A9-2B64-AA8313D94E67}"/>
              </a:ext>
            </a:extLst>
          </p:cNvPr>
          <p:cNvSpPr txBox="1"/>
          <p:nvPr/>
        </p:nvSpPr>
        <p:spPr>
          <a:xfrm>
            <a:off x="656823" y="1175756"/>
            <a:ext cx="10419007" cy="1884298"/>
          </a:xfrm>
          <a:prstGeom prst="rect">
            <a:avLst/>
          </a:prstGeom>
          <a:noFill/>
        </p:spPr>
        <p:txBody>
          <a:bodyPr wrap="square">
            <a:spAutoFit/>
          </a:bodyPr>
          <a:lstStyle/>
          <a:p>
            <a:pPr algn="just">
              <a:lnSpc>
                <a:spcPct val="150000"/>
              </a:lnSpc>
              <a:spcAft>
                <a:spcPts val="800"/>
              </a:spcAft>
            </a:pP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Au sein des logements sociaux et économiques de Ouèdo, l’aménagement paysager se caractérise par trois (03) types d’espaces verts à savoir : les arbres d’alignement de voirie ,</a:t>
            </a:r>
            <a:r>
              <a:rPr lang="fr-FR" sz="2000" kern="0" dirty="0">
                <a:effectLst/>
                <a:latin typeface="Times New Roman" panose="02020603050405020304" pitchFamily="18" charset="0"/>
                <a:ea typeface="SimSun" panose="02010600030101010101" pitchFamily="2" charset="-122"/>
                <a:cs typeface="Times New Roman" panose="02020603050405020304" pitchFamily="18" charset="0"/>
              </a:rPr>
              <a:t>les espaces verts d’accompagnement</a:t>
            </a: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 d’habitation</a:t>
            </a:r>
            <a:r>
              <a:rPr lang="fr-FR"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ainsi que</a:t>
            </a:r>
            <a:r>
              <a:rPr lang="fr-FR"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000" kern="0" dirty="0">
                <a:effectLst/>
                <a:latin typeface="Times New Roman" panose="02020603050405020304" pitchFamily="18" charset="0"/>
                <a:ea typeface="SimSun" panose="02010600030101010101" pitchFamily="2" charset="-122"/>
                <a:cs typeface="Times New Roman" panose="02020603050405020304" pitchFamily="18" charset="0"/>
              </a:rPr>
              <a:t>les jardins</a:t>
            </a:r>
            <a:r>
              <a:rPr lang="fr-FR" sz="20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000" kern="100" dirty="0">
                <a:effectLst/>
                <a:latin typeface="Times New Roman" panose="02020603050405020304" pitchFamily="18" charset="0"/>
                <a:ea typeface="Calibri" panose="020F0502020204030204" pitchFamily="34" charset="0"/>
                <a:cs typeface="Times New Roman" panose="02020603050405020304" pitchFamily="18" charset="0"/>
              </a:rPr>
              <a:t>La</a:t>
            </a: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 planche 1</a:t>
            </a:r>
            <a:r>
              <a:rPr lang="fr-FR" sz="2000" kern="100" dirty="0">
                <a:effectLst/>
                <a:latin typeface="Times New Roman" panose="02020603050405020304" pitchFamily="18" charset="0"/>
                <a:ea typeface="Calibri" panose="020F0502020204030204" pitchFamily="34" charset="0"/>
                <a:cs typeface="Times New Roman" panose="02020603050405020304" pitchFamily="18" charset="0"/>
              </a:rPr>
              <a:t> illustre les types d’espaces verts de la cité nouvelle de Ouèdo</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 5">
            <a:extLst>
              <a:ext uri="{FF2B5EF4-FFF2-40B4-BE49-F238E27FC236}">
                <a16:creationId xmlns="" xmlns:a16="http://schemas.microsoft.com/office/drawing/2014/main" id="{16AE4177-6985-98DB-1F66-1BF1A513C3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9153" y="3276018"/>
            <a:ext cx="4356939" cy="2677424"/>
          </a:xfrm>
          <a:prstGeom prst="rect">
            <a:avLst/>
          </a:prstGeom>
          <a:ln>
            <a:noFill/>
          </a:ln>
          <a:effectLst>
            <a:outerShdw blurRad="190500" algn="tl" rotWithShape="0">
              <a:srgbClr val="000000">
                <a:alpha val="70000"/>
              </a:srgbClr>
            </a:outerShdw>
          </a:effectLst>
        </p:spPr>
      </p:pic>
      <p:pic>
        <p:nvPicPr>
          <p:cNvPr id="7" name="Image 6">
            <a:extLst>
              <a:ext uri="{FF2B5EF4-FFF2-40B4-BE49-F238E27FC236}">
                <a16:creationId xmlns="" xmlns:a16="http://schemas.microsoft.com/office/drawing/2014/main" id="{C41BDDC1-547D-9093-31B4-1896EF28D2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38155" y="3276018"/>
            <a:ext cx="4592071" cy="2657116"/>
          </a:xfrm>
          <a:prstGeom prst="rect">
            <a:avLst/>
          </a:prstGeom>
          <a:ln>
            <a:noFill/>
          </a:ln>
          <a:effectLst>
            <a:outerShdw blurRad="190500" algn="tl" rotWithShape="0">
              <a:srgbClr val="000000">
                <a:alpha val="70000"/>
              </a:srgbClr>
            </a:outerShdw>
          </a:effectLst>
        </p:spPr>
      </p:pic>
      <p:sp>
        <p:nvSpPr>
          <p:cNvPr id="11" name="ZoneTexte 10">
            <a:extLst>
              <a:ext uri="{FF2B5EF4-FFF2-40B4-BE49-F238E27FC236}">
                <a16:creationId xmlns="" xmlns:a16="http://schemas.microsoft.com/office/drawing/2014/main" id="{FFAA96BD-8E8A-4A48-57E6-1388AE5DD380}"/>
              </a:ext>
            </a:extLst>
          </p:cNvPr>
          <p:cNvSpPr txBox="1"/>
          <p:nvPr/>
        </p:nvSpPr>
        <p:spPr>
          <a:xfrm>
            <a:off x="1387807" y="6071634"/>
            <a:ext cx="2652479" cy="707886"/>
          </a:xfrm>
          <a:prstGeom prst="rect">
            <a:avLst/>
          </a:prstGeom>
          <a:noFill/>
        </p:spPr>
        <p:txBody>
          <a:bodyPr wrap="square">
            <a:spAutoFit/>
          </a:bodyPr>
          <a:lstStyle/>
          <a:p>
            <a:r>
              <a:rPr lang="fr-FR" sz="2000" dirty="0">
                <a:effectLst/>
                <a:latin typeface="Times New Roman" panose="02020603050405020304" pitchFamily="18" charset="0"/>
                <a:ea typeface="Calibri" panose="020F0502020204030204" pitchFamily="34" charset="0"/>
              </a:rPr>
              <a:t>Arbre d’alignement de voirie</a:t>
            </a:r>
            <a:endParaRPr lang="fr-FR" sz="2000" dirty="0"/>
          </a:p>
        </p:txBody>
      </p:sp>
      <p:sp>
        <p:nvSpPr>
          <p:cNvPr id="13" name="ZoneTexte 12">
            <a:extLst>
              <a:ext uri="{FF2B5EF4-FFF2-40B4-BE49-F238E27FC236}">
                <a16:creationId xmlns="" xmlns:a16="http://schemas.microsoft.com/office/drawing/2014/main" id="{0707FD33-9507-9833-93E8-563DD10690CE}"/>
              </a:ext>
            </a:extLst>
          </p:cNvPr>
          <p:cNvSpPr txBox="1"/>
          <p:nvPr/>
        </p:nvSpPr>
        <p:spPr>
          <a:xfrm>
            <a:off x="5945453" y="6071634"/>
            <a:ext cx="3977473" cy="707886"/>
          </a:xfrm>
          <a:prstGeom prst="rect">
            <a:avLst/>
          </a:prstGeom>
          <a:noFill/>
        </p:spPr>
        <p:txBody>
          <a:bodyPr wrap="square">
            <a:spAutoFit/>
          </a:bodyPr>
          <a:lstStyle/>
          <a:p>
            <a:pPr algn="ctr"/>
            <a:r>
              <a:rPr lang="fr-FR" sz="2000" dirty="0">
                <a:effectLst/>
                <a:latin typeface="Times New Roman" panose="02020603050405020304" pitchFamily="18" charset="0"/>
                <a:ea typeface="Calibri" panose="020F0502020204030204" pitchFamily="34" charset="0"/>
              </a:rPr>
              <a:t>Espace vert d’accompagnement d’habitation</a:t>
            </a:r>
            <a:endParaRPr lang="fr-FR" sz="2000" dirty="0"/>
          </a:p>
        </p:txBody>
      </p:sp>
    </p:spTree>
    <p:extLst>
      <p:ext uri="{BB962C8B-B14F-4D97-AF65-F5344CB8AC3E}">
        <p14:creationId xmlns:p14="http://schemas.microsoft.com/office/powerpoint/2010/main" val="27310220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 xmlns:a16="http://schemas.microsoft.com/office/drawing/2014/main" id="{7780FCCD-5917-4C54-9596-09F1D1613B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4766" y="790593"/>
            <a:ext cx="5066268" cy="3233963"/>
          </a:xfrm>
          <a:prstGeom prst="rect">
            <a:avLst/>
          </a:prstGeom>
          <a:ln>
            <a:noFill/>
          </a:ln>
          <a:effectLst>
            <a:outerShdw blurRad="190500" algn="tl" rotWithShape="0">
              <a:srgbClr val="000000">
                <a:alpha val="70000"/>
              </a:srgbClr>
            </a:outerShdw>
          </a:effectLst>
        </p:spPr>
      </p:pic>
      <p:pic>
        <p:nvPicPr>
          <p:cNvPr id="9" name="Image 8">
            <a:extLst>
              <a:ext uri="{FF2B5EF4-FFF2-40B4-BE49-F238E27FC236}">
                <a16:creationId xmlns="" xmlns:a16="http://schemas.microsoft.com/office/drawing/2014/main" id="{F6682619-343D-AA45-758D-9ECD1FC6AFF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8434" y="790592"/>
            <a:ext cx="4835377" cy="3233963"/>
          </a:xfrm>
          <a:prstGeom prst="rect">
            <a:avLst/>
          </a:prstGeom>
          <a:ln>
            <a:noFill/>
          </a:ln>
          <a:effectLst>
            <a:outerShdw blurRad="190500" algn="tl" rotWithShape="0">
              <a:srgbClr val="000000">
                <a:alpha val="70000"/>
              </a:srgbClr>
            </a:outerShdw>
          </a:effectLst>
        </p:spPr>
      </p:pic>
      <p:sp>
        <p:nvSpPr>
          <p:cNvPr id="4" name="ZoneTexte 3">
            <a:extLst>
              <a:ext uri="{FF2B5EF4-FFF2-40B4-BE49-F238E27FC236}">
                <a16:creationId xmlns="" xmlns:a16="http://schemas.microsoft.com/office/drawing/2014/main" id="{828EE12A-FBCB-DAB9-295A-A1E0BA67E449}"/>
              </a:ext>
            </a:extLst>
          </p:cNvPr>
          <p:cNvSpPr txBox="1"/>
          <p:nvPr/>
        </p:nvSpPr>
        <p:spPr>
          <a:xfrm>
            <a:off x="1934135" y="4090666"/>
            <a:ext cx="1851342" cy="400110"/>
          </a:xfrm>
          <a:prstGeom prst="rect">
            <a:avLst/>
          </a:prstGeom>
          <a:noFill/>
        </p:spPr>
        <p:txBody>
          <a:bodyPr wrap="square">
            <a:spAutoFit/>
          </a:bodyPr>
          <a:lstStyle/>
          <a:p>
            <a:pPr algn="ctr"/>
            <a:r>
              <a:rPr lang="fr-FR" sz="2000" dirty="0">
                <a:effectLst/>
                <a:latin typeface="Times New Roman" panose="02020603050405020304" pitchFamily="18" charset="0"/>
                <a:ea typeface="Calibri" panose="020F0502020204030204" pitchFamily="34" charset="0"/>
              </a:rPr>
              <a:t>Jardin</a:t>
            </a:r>
            <a:endParaRPr lang="fr-FR" sz="2000" dirty="0"/>
          </a:p>
        </p:txBody>
      </p:sp>
      <p:sp>
        <p:nvSpPr>
          <p:cNvPr id="17" name="ZoneTexte 16">
            <a:extLst>
              <a:ext uri="{FF2B5EF4-FFF2-40B4-BE49-F238E27FC236}">
                <a16:creationId xmlns="" xmlns:a16="http://schemas.microsoft.com/office/drawing/2014/main" id="{59BF41CF-98C0-D596-08E4-751E30156EBC}"/>
              </a:ext>
            </a:extLst>
          </p:cNvPr>
          <p:cNvSpPr txBox="1"/>
          <p:nvPr/>
        </p:nvSpPr>
        <p:spPr>
          <a:xfrm>
            <a:off x="6852691" y="4076689"/>
            <a:ext cx="3585536" cy="707886"/>
          </a:xfrm>
          <a:prstGeom prst="rect">
            <a:avLst/>
          </a:prstGeom>
          <a:noFill/>
        </p:spPr>
        <p:txBody>
          <a:bodyPr wrap="square">
            <a:spAutoFit/>
          </a:bodyPr>
          <a:lstStyle/>
          <a:p>
            <a:pPr algn="ctr"/>
            <a:r>
              <a:rPr lang="fr-FR" sz="2000" dirty="0">
                <a:effectLst/>
                <a:latin typeface="Times New Roman" panose="02020603050405020304" pitchFamily="18" charset="0"/>
                <a:ea typeface="Calibri" panose="020F0502020204030204" pitchFamily="34" charset="0"/>
              </a:rPr>
              <a:t>Espace vert d’accompagnement d’habitation</a:t>
            </a:r>
            <a:endParaRPr lang="fr-FR" sz="2000" dirty="0"/>
          </a:p>
        </p:txBody>
      </p:sp>
      <p:sp>
        <p:nvSpPr>
          <p:cNvPr id="6" name="ZoneTexte 5">
            <a:extLst>
              <a:ext uri="{FF2B5EF4-FFF2-40B4-BE49-F238E27FC236}">
                <a16:creationId xmlns="" xmlns:a16="http://schemas.microsoft.com/office/drawing/2014/main" id="{C5E455A2-FA99-92FB-F143-44F90A0E0F90}"/>
              </a:ext>
            </a:extLst>
          </p:cNvPr>
          <p:cNvSpPr txBox="1"/>
          <p:nvPr/>
        </p:nvSpPr>
        <p:spPr>
          <a:xfrm>
            <a:off x="2671534" y="4921663"/>
            <a:ext cx="7640084" cy="504625"/>
          </a:xfrm>
          <a:prstGeom prst="rect">
            <a:avLst/>
          </a:prstGeom>
          <a:noFill/>
        </p:spPr>
        <p:txBody>
          <a:bodyPr wrap="square">
            <a:spAutoFit/>
          </a:bodyPr>
          <a:lstStyle/>
          <a:p>
            <a:pPr algn="ctr">
              <a:lnSpc>
                <a:spcPct val="150000"/>
              </a:lnSpc>
              <a:spcAft>
                <a:spcPts val="800"/>
              </a:spcAft>
            </a:pPr>
            <a:r>
              <a:rPr lang="fr-FR" sz="2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Planche 1 : </a:t>
            </a: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Les espaces verts présents sur le site des logements sociaux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ZoneTexte 7">
            <a:extLst>
              <a:ext uri="{FF2B5EF4-FFF2-40B4-BE49-F238E27FC236}">
                <a16:creationId xmlns="" xmlns:a16="http://schemas.microsoft.com/office/drawing/2014/main" id="{81D2569F-4DF4-90F0-5EFB-4EB8EE7163B2}"/>
              </a:ext>
            </a:extLst>
          </p:cNvPr>
          <p:cNvSpPr txBox="1"/>
          <p:nvPr/>
        </p:nvSpPr>
        <p:spPr>
          <a:xfrm>
            <a:off x="2877059" y="5446622"/>
            <a:ext cx="6098240" cy="504625"/>
          </a:xfrm>
          <a:prstGeom prst="rect">
            <a:avLst/>
          </a:prstGeom>
          <a:noFill/>
        </p:spPr>
        <p:txBody>
          <a:bodyPr wrap="square">
            <a:spAutoFit/>
          </a:bodyPr>
          <a:lstStyle/>
          <a:p>
            <a:pPr algn="just">
              <a:lnSpc>
                <a:spcPct val="150000"/>
              </a:lnSpc>
              <a:spcAft>
                <a:spcPts val="800"/>
              </a:spcAft>
            </a:pPr>
            <a:r>
              <a:rPr lang="fr-FR" sz="2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Prise de vue</a:t>
            </a: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KOUKPO Richsen, juin 2025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2468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 xmlns:a16="http://schemas.microsoft.com/office/drawing/2014/main" id="{E4024BEC-C179-E958-A396-5121956DF1D1}"/>
              </a:ext>
            </a:extLst>
          </p:cNvPr>
          <p:cNvSpPr txBox="1"/>
          <p:nvPr/>
        </p:nvSpPr>
        <p:spPr>
          <a:xfrm>
            <a:off x="1297547" y="395589"/>
            <a:ext cx="6098146" cy="498663"/>
          </a:xfrm>
          <a:prstGeom prst="rect">
            <a:avLst/>
          </a:prstGeom>
          <a:noFill/>
        </p:spPr>
        <p:txBody>
          <a:bodyPr wrap="square">
            <a:spAutoFit/>
          </a:bodyPr>
          <a:lstStyle/>
          <a:p>
            <a:pPr algn="just">
              <a:lnSpc>
                <a:spcPct val="150000"/>
              </a:lnSpc>
              <a:spcBef>
                <a:spcPts val="800"/>
              </a:spcBef>
              <a:spcAft>
                <a:spcPts val="400"/>
              </a:spcAft>
            </a:pPr>
            <a:r>
              <a:rPr lang="fr-FR" sz="2000" b="1" kern="100" noProof="0" dirty="0">
                <a:effectLst/>
                <a:latin typeface="Times New Roman" panose="02020603050405020304" pitchFamily="18" charset="0"/>
                <a:ea typeface="Times New Roman" panose="02020603050405020304" pitchFamily="18" charset="0"/>
                <a:cs typeface="Times New Roman" panose="02020603050405020304" pitchFamily="18" charset="0"/>
              </a:rPr>
              <a:t>1-2 Types d’usage des Espaces Verts de </a:t>
            </a:r>
            <a:r>
              <a:rPr lang="fr-FR" sz="2000" b="1" kern="100" noProof="0" dirty="0" err="1">
                <a:effectLst/>
                <a:latin typeface="Times New Roman" panose="02020603050405020304" pitchFamily="18" charset="0"/>
                <a:ea typeface="Times New Roman" panose="02020603050405020304" pitchFamily="18" charset="0"/>
                <a:cs typeface="Times New Roman" panose="02020603050405020304" pitchFamily="18" charset="0"/>
              </a:rPr>
              <a:t>Ouèdo</a:t>
            </a:r>
            <a:endParaRPr lang="fr-FR" sz="2000" b="1" kern="100" noProof="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4" name="Graphique 3">
            <a:extLst>
              <a:ext uri="{FF2B5EF4-FFF2-40B4-BE49-F238E27FC236}">
                <a16:creationId xmlns="" xmlns:a16="http://schemas.microsoft.com/office/drawing/2014/main" id="{B8ACB7E3-A454-A261-E748-CB0168E94E03}"/>
              </a:ext>
            </a:extLst>
          </p:cNvPr>
          <p:cNvGraphicFramePr/>
          <p:nvPr>
            <p:extLst>
              <p:ext uri="{D42A27DB-BD31-4B8C-83A1-F6EECF244321}">
                <p14:modId xmlns:p14="http://schemas.microsoft.com/office/powerpoint/2010/main" val="1791936988"/>
              </p:ext>
            </p:extLst>
          </p:nvPr>
        </p:nvGraphicFramePr>
        <p:xfrm>
          <a:off x="1627241" y="1048068"/>
          <a:ext cx="6949440" cy="4213249"/>
        </p:xfrm>
        <a:graphic>
          <a:graphicData uri="http://schemas.openxmlformats.org/drawingml/2006/chart">
            <c:chart xmlns:c="http://schemas.openxmlformats.org/drawingml/2006/chart" xmlns:r="http://schemas.openxmlformats.org/officeDocument/2006/relationships" r:id="rId3"/>
          </a:graphicData>
        </a:graphic>
      </p:graphicFrame>
      <p:sp>
        <p:nvSpPr>
          <p:cNvPr id="6" name="ZoneTexte 5">
            <a:extLst>
              <a:ext uri="{FF2B5EF4-FFF2-40B4-BE49-F238E27FC236}">
                <a16:creationId xmlns="" xmlns:a16="http://schemas.microsoft.com/office/drawing/2014/main" id="{BD06C817-E345-6975-7B3E-9C055E5BAAD0}"/>
              </a:ext>
            </a:extLst>
          </p:cNvPr>
          <p:cNvSpPr txBox="1"/>
          <p:nvPr/>
        </p:nvSpPr>
        <p:spPr>
          <a:xfrm>
            <a:off x="1752253" y="5261317"/>
            <a:ext cx="6699416" cy="1524585"/>
          </a:xfrm>
          <a:prstGeom prst="rect">
            <a:avLst/>
          </a:prstGeom>
          <a:noFill/>
        </p:spPr>
        <p:txBody>
          <a:bodyPr wrap="square">
            <a:spAutoFit/>
          </a:bodyPr>
          <a:lstStyle/>
          <a:p>
            <a:pPr algn="just">
              <a:lnSpc>
                <a:spcPct val="150000"/>
              </a:lnSpc>
              <a:spcAft>
                <a:spcPts val="800"/>
              </a:spcAft>
              <a:buNone/>
            </a:pPr>
            <a:r>
              <a:rPr lang="fr-FR" sz="2000" b="1" kern="100" noProof="0" dirty="0">
                <a:effectLst/>
                <a:latin typeface="Times New Roman" panose="02020603050405020304" pitchFamily="18" charset="0"/>
                <a:ea typeface="Calibri" panose="020F0502020204030204" pitchFamily="34" charset="0"/>
                <a:cs typeface="Times New Roman" panose="02020603050405020304" pitchFamily="18" charset="0"/>
              </a:rPr>
              <a:t>Figure 2</a:t>
            </a:r>
            <a:r>
              <a:rPr lang="fr-FR" sz="2000" b="1" kern="100" noProof="0" dirty="0">
                <a:latin typeface="Times New Roman" panose="02020603050405020304" pitchFamily="18" charset="0"/>
                <a:ea typeface="Calibri" panose="020F0502020204030204" pitchFamily="34" charset="0"/>
                <a:cs typeface="Times New Roman" panose="02020603050405020304" pitchFamily="18" charset="0"/>
              </a:rPr>
              <a:t> </a:t>
            </a:r>
            <a:r>
              <a:rPr lang="fr-FR" sz="2000" b="1" kern="100" noProof="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000" kern="0" noProof="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Usages des espaces verts des logements sociaux et économiques de </a:t>
            </a:r>
            <a:r>
              <a:rPr lang="fr-FR" sz="2000" kern="0" noProof="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Ouèdo</a:t>
            </a:r>
            <a:r>
              <a:rPr lang="fr-FR" sz="2000" kern="0" noProof="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fr-FR" sz="2000" b="1" kern="0" noProof="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2000" kern="100" noProof="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fr-FR" sz="2000" b="1" kern="0" noProof="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Source </a:t>
            </a:r>
            <a:r>
              <a:rPr lang="fr-FR" sz="2000" kern="0" noProof="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Résultats de terrain, juin 2025 </a:t>
            </a:r>
            <a:endParaRPr lang="fr-FR" sz="2000" kern="100" noProof="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27698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 xmlns:a16="http://schemas.microsoft.com/office/drawing/2014/main" id="{CC2354AB-E82C-5D70-C569-70B0ADBDA38A}"/>
              </a:ext>
            </a:extLst>
          </p:cNvPr>
          <p:cNvSpPr txBox="1"/>
          <p:nvPr/>
        </p:nvSpPr>
        <p:spPr>
          <a:xfrm>
            <a:off x="1001332" y="176647"/>
            <a:ext cx="6098146" cy="498663"/>
          </a:xfrm>
          <a:prstGeom prst="rect">
            <a:avLst/>
          </a:prstGeom>
          <a:noFill/>
        </p:spPr>
        <p:txBody>
          <a:bodyPr wrap="square">
            <a:spAutoFit/>
          </a:bodyPr>
          <a:lstStyle/>
          <a:p>
            <a:pPr algn="just">
              <a:lnSpc>
                <a:spcPct val="150000"/>
              </a:lnSpc>
              <a:spcBef>
                <a:spcPts val="800"/>
              </a:spcBef>
              <a:spcAft>
                <a:spcPts val="400"/>
              </a:spcAft>
            </a:pPr>
            <a:r>
              <a:rPr lang="fr-FR"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1-5 Richesse floristique des espaces verts </a:t>
            </a:r>
          </a:p>
        </p:txBody>
      </p:sp>
      <p:sp>
        <p:nvSpPr>
          <p:cNvPr id="4" name="ZoneTexte 3">
            <a:extLst>
              <a:ext uri="{FF2B5EF4-FFF2-40B4-BE49-F238E27FC236}">
                <a16:creationId xmlns="" xmlns:a16="http://schemas.microsoft.com/office/drawing/2014/main" id="{377415AF-3CA5-2683-86AA-0DFB4F925DF8}"/>
              </a:ext>
            </a:extLst>
          </p:cNvPr>
          <p:cNvSpPr txBox="1"/>
          <p:nvPr/>
        </p:nvSpPr>
        <p:spPr>
          <a:xfrm>
            <a:off x="466684" y="634721"/>
            <a:ext cx="11026812" cy="2345322"/>
          </a:xfrm>
          <a:prstGeom prst="rect">
            <a:avLst/>
          </a:prstGeom>
          <a:noFill/>
        </p:spPr>
        <p:txBody>
          <a:bodyPr wrap="square">
            <a:spAutoFit/>
          </a:bodyPr>
          <a:lstStyle/>
          <a:p>
            <a:pPr lvl="0" algn="just">
              <a:lnSpc>
                <a:spcPct val="150000"/>
              </a:lnSpc>
              <a:defRPr/>
            </a:pPr>
            <a:r>
              <a:rPr lang="fr-FR" sz="2000" dirty="0">
                <a:latin typeface="Times New Roman" panose="02020603050405020304" pitchFamily="18" charset="0"/>
                <a:ea typeface="Calibri" panose="020F0502020204030204" pitchFamily="34" charset="0"/>
                <a:cs typeface="Times New Roman" panose="02020603050405020304" pitchFamily="18" charset="0"/>
              </a:rPr>
              <a:t>Les espèces se trouvant dans la nouvelle cité de Ouèdo sont: </a:t>
            </a:r>
            <a:r>
              <a:rPr lang="fr-FR" sz="2000" i="1" kern="1200" dirty="0" err="1">
                <a:solidFill>
                  <a:schemeClr val="tx1"/>
                </a:solidFill>
                <a:effectLst/>
                <a:latin typeface="Times New Roman" panose="02020603050405020304" pitchFamily="18" charset="0"/>
                <a:cs typeface="Times New Roman" panose="02020603050405020304" pitchFamily="18" charset="0"/>
              </a:rPr>
              <a:t>Cordia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sebestena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Roytonea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regia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Ptychosperma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macarthurii</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Terminalia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superba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Nerium</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oleander</a:t>
            </a:r>
            <a:r>
              <a:rPr lang="fr-FR" sz="2000" i="1" kern="1200" dirty="0">
                <a:solidFill>
                  <a:schemeClr val="tx1"/>
                </a:solidFill>
                <a:effectLst/>
                <a:latin typeface="Times New Roman" panose="02020603050405020304" pitchFamily="18" charset="0"/>
                <a:cs typeface="Times New Roman" panose="02020603050405020304" pitchFamily="18" charset="0"/>
              </a:rPr>
              <a:t> , </a:t>
            </a:r>
            <a:r>
              <a:rPr lang="fr-FR" sz="2000" i="1" kern="1200" dirty="0" err="1">
                <a:solidFill>
                  <a:schemeClr val="tx1"/>
                </a:solidFill>
                <a:effectLst/>
                <a:latin typeface="Times New Roman" panose="02020603050405020304" pitchFamily="18" charset="0"/>
                <a:cs typeface="Times New Roman" panose="02020603050405020304" pitchFamily="18" charset="0"/>
              </a:rPr>
              <a:t>Guaiacum</a:t>
            </a:r>
            <a:r>
              <a:rPr lang="fr-FR" sz="2000" i="1" kern="1200" dirty="0">
                <a:solidFill>
                  <a:schemeClr val="tx1"/>
                </a:solidFill>
                <a:effectLst/>
                <a:latin typeface="Times New Roman" panose="02020603050405020304" pitchFamily="18" charset="0"/>
                <a:cs typeface="Times New Roman" panose="02020603050405020304" pitchFamily="18" charset="0"/>
              </a:rPr>
              <a:t> officinale, Senna </a:t>
            </a:r>
            <a:r>
              <a:rPr lang="fr-FR" sz="2000" i="1" kern="1200" dirty="0" err="1">
                <a:solidFill>
                  <a:schemeClr val="tx1"/>
                </a:solidFill>
                <a:effectLst/>
                <a:latin typeface="Times New Roman" panose="02020603050405020304" pitchFamily="18" charset="0"/>
                <a:cs typeface="Times New Roman" panose="02020603050405020304" pitchFamily="18" charset="0"/>
              </a:rPr>
              <a:t>surattensis</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Terminalia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catappa</a:t>
            </a:r>
            <a:r>
              <a:rPr lang="fr-FR" sz="2000" i="1" dirty="0">
                <a:latin typeface="Times New Roman" panose="02020603050405020304" pitchFamily="18" charset="0"/>
                <a:cs typeface="Times New Roman" panose="02020603050405020304" pitchFamily="18" charset="0"/>
              </a:rPr>
              <a:t>,</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Delonix</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regia</a:t>
            </a:r>
            <a:r>
              <a:rPr lang="fr-FR" sz="2000" i="1" kern="1200" dirty="0">
                <a:solidFill>
                  <a:schemeClr val="tx1"/>
                </a:solidFill>
                <a:effectLst/>
                <a:latin typeface="Times New Roman" panose="02020603050405020304" pitchFamily="18" charset="0"/>
                <a:cs typeface="Times New Roman" panose="02020603050405020304" pitchFamily="18" charset="0"/>
              </a:rPr>
              <a:t>, ficus </a:t>
            </a:r>
            <a:r>
              <a:rPr lang="fr-FR" sz="2000" i="1" kern="1200" dirty="0" err="1">
                <a:solidFill>
                  <a:schemeClr val="tx1"/>
                </a:solidFill>
                <a:effectLst/>
                <a:latin typeface="Times New Roman" panose="02020603050405020304" pitchFamily="18" charset="0"/>
                <a:cs typeface="Times New Roman" panose="02020603050405020304" pitchFamily="18" charset="0"/>
              </a:rPr>
              <a:t>retusa</a:t>
            </a:r>
            <a:r>
              <a:rPr lang="fr-FR" sz="2000" i="1" kern="1200" dirty="0">
                <a:solidFill>
                  <a:schemeClr val="tx1"/>
                </a:solidFill>
                <a:effectLst/>
                <a:latin typeface="Times New Roman" panose="02020603050405020304" pitchFamily="18" charset="0"/>
                <a:cs typeface="Times New Roman" panose="02020603050405020304" pitchFamily="18" charset="0"/>
              </a:rPr>
              <a:t>, Ficus </a:t>
            </a:r>
            <a:r>
              <a:rPr lang="fr-FR" sz="2000" i="1" kern="1200" dirty="0" err="1">
                <a:solidFill>
                  <a:schemeClr val="tx1"/>
                </a:solidFill>
                <a:effectLst/>
                <a:latin typeface="Times New Roman" panose="02020603050405020304" pitchFamily="18" charset="0"/>
                <a:cs typeface="Times New Roman" panose="02020603050405020304" pitchFamily="18" charset="0"/>
              </a:rPr>
              <a:t>benjamina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Volkameria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inermis,Ixora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coccinea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Acalypha</a:t>
            </a:r>
            <a:r>
              <a:rPr lang="fr-FR" sz="2000" i="1" kern="1200" dirty="0">
                <a:solidFill>
                  <a:schemeClr val="tx1"/>
                </a:solidFill>
                <a:effectLst/>
                <a:latin typeface="Times New Roman" panose="02020603050405020304" pitchFamily="18" charset="0"/>
                <a:cs typeface="Times New Roman" panose="02020603050405020304" pitchFamily="18" charset="0"/>
              </a:rPr>
              <a:t> </a:t>
            </a:r>
            <a:r>
              <a:rPr lang="fr-FR" sz="2000" i="1" kern="1200" dirty="0" err="1">
                <a:solidFill>
                  <a:schemeClr val="tx1"/>
                </a:solidFill>
                <a:effectLst/>
                <a:latin typeface="Times New Roman" panose="02020603050405020304" pitchFamily="18" charset="0"/>
                <a:cs typeface="Times New Roman" panose="02020603050405020304" pitchFamily="18" charset="0"/>
              </a:rPr>
              <a:t>wilkesina</a:t>
            </a:r>
            <a:r>
              <a:rPr lang="fr-FR" sz="2000" i="1" kern="1200" dirty="0">
                <a:solidFill>
                  <a:schemeClr val="tx1"/>
                </a:solidFill>
                <a:effectLst/>
                <a:latin typeface="Times New Roman" panose="02020603050405020304" pitchFamily="18" charset="0"/>
                <a:cs typeface="Times New Roman" panose="02020603050405020304" pitchFamily="18" charset="0"/>
              </a:rPr>
              <a:t>, Acacia </a:t>
            </a:r>
            <a:r>
              <a:rPr lang="fr-FR" sz="2000" i="1" kern="1200" dirty="0" err="1">
                <a:solidFill>
                  <a:schemeClr val="tx1"/>
                </a:solidFill>
                <a:effectLst/>
                <a:latin typeface="Times New Roman" panose="02020603050405020304" pitchFamily="18" charset="0"/>
                <a:cs typeface="Times New Roman" panose="02020603050405020304" pitchFamily="18" charset="0"/>
              </a:rPr>
              <a:t>auricoloformis</a:t>
            </a:r>
            <a:r>
              <a:rPr lang="fr-FR" sz="2000" i="1" kern="1200" dirty="0">
                <a:solidFill>
                  <a:schemeClr val="tx1"/>
                </a:solidFill>
                <a:effectLst/>
                <a:latin typeface="Times New Roman" panose="02020603050405020304" pitchFamily="18" charset="0"/>
                <a:cs typeface="Times New Roman" panose="02020603050405020304" pitchFamily="18" charset="0"/>
              </a:rPr>
              <a:t>, Tradescantia </a:t>
            </a:r>
            <a:r>
              <a:rPr lang="fr-FR" sz="2000" i="1" kern="1200" dirty="0" err="1">
                <a:solidFill>
                  <a:schemeClr val="tx1"/>
                </a:solidFill>
                <a:effectLst/>
                <a:latin typeface="Times New Roman" panose="02020603050405020304" pitchFamily="18" charset="0"/>
                <a:cs typeface="Times New Roman" panose="02020603050405020304" pitchFamily="18" charset="0"/>
              </a:rPr>
              <a:t>pallida</a:t>
            </a:r>
            <a:r>
              <a:rPr lang="fr-FR" sz="2000" i="1" kern="1200" dirty="0">
                <a:solidFill>
                  <a:schemeClr val="tx1"/>
                </a:solidFill>
                <a:effectLst/>
                <a:latin typeface="Times New Roman" panose="02020603050405020304" pitchFamily="18" charset="0"/>
                <a:cs typeface="Times New Roman" panose="02020603050405020304" pitchFamily="18" charset="0"/>
              </a:rPr>
              <a:t>, Dracaena </a:t>
            </a:r>
            <a:r>
              <a:rPr lang="fr-FR" sz="2000" i="1" kern="1200" dirty="0" err="1">
                <a:solidFill>
                  <a:schemeClr val="tx1"/>
                </a:solidFill>
                <a:effectLst/>
                <a:latin typeface="Times New Roman" panose="02020603050405020304" pitchFamily="18" charset="0"/>
                <a:cs typeface="Times New Roman" panose="02020603050405020304" pitchFamily="18" charset="0"/>
              </a:rPr>
              <a:t>reflexa</a:t>
            </a:r>
            <a:r>
              <a:rPr lang="fr-FR" sz="2000" i="1" dirty="0">
                <a:latin typeface="Times New Roman" panose="02020603050405020304" pitchFamily="18" charset="0"/>
                <a:cs typeface="Times New Roman" panose="02020603050405020304" pitchFamily="18" charset="0"/>
              </a:rPr>
              <a:t>, Ruellia simplex, </a:t>
            </a:r>
            <a:r>
              <a:rPr lang="fr-FR" sz="2000" i="1" dirty="0" err="1">
                <a:latin typeface="Times New Roman" panose="02020603050405020304" pitchFamily="18" charset="0"/>
                <a:cs typeface="Times New Roman" panose="02020603050405020304" pitchFamily="18" charset="0"/>
              </a:rPr>
              <a:t>Cynodon</a:t>
            </a:r>
            <a:r>
              <a:rPr lang="fr-FR" sz="2000" i="1" dirty="0">
                <a:latin typeface="Times New Roman" panose="02020603050405020304" pitchFamily="18" charset="0"/>
                <a:cs typeface="Times New Roman" panose="02020603050405020304" pitchFamily="18" charset="0"/>
              </a:rPr>
              <a:t> </a:t>
            </a:r>
            <a:r>
              <a:rPr lang="fr-FR" sz="2000" i="1" dirty="0" err="1">
                <a:latin typeface="Times New Roman" panose="02020603050405020304" pitchFamily="18" charset="0"/>
                <a:cs typeface="Times New Roman" panose="02020603050405020304" pitchFamily="18" charset="0"/>
              </a:rPr>
              <a:t>dactylon</a:t>
            </a:r>
            <a:r>
              <a:rPr lang="fr-FR" sz="2000" i="1" dirty="0">
                <a:latin typeface="Times New Roman" panose="02020603050405020304" pitchFamily="18" charset="0"/>
                <a:cs typeface="Times New Roman" panose="02020603050405020304" pitchFamily="18" charset="0"/>
              </a:rPr>
              <a:t>, </a:t>
            </a:r>
            <a:r>
              <a:rPr lang="fr-FR" sz="2000" i="1" dirty="0" err="1">
                <a:latin typeface="Times New Roman" panose="02020603050405020304" pitchFamily="18" charset="0"/>
                <a:cs typeface="Times New Roman" panose="02020603050405020304" pitchFamily="18" charset="0"/>
              </a:rPr>
              <a:t>Stenotaphrum</a:t>
            </a:r>
            <a:r>
              <a:rPr lang="fr-FR" sz="2000" i="1" dirty="0">
                <a:latin typeface="Times New Roman" panose="02020603050405020304" pitchFamily="18" charset="0"/>
                <a:cs typeface="Times New Roman" panose="02020603050405020304" pitchFamily="18" charset="0"/>
              </a:rPr>
              <a:t> </a:t>
            </a:r>
            <a:r>
              <a:rPr lang="fr-FR" sz="2000" i="1" dirty="0" err="1">
                <a:latin typeface="Times New Roman" panose="02020603050405020304" pitchFamily="18" charset="0"/>
                <a:cs typeface="Times New Roman" panose="02020603050405020304" pitchFamily="18" charset="0"/>
              </a:rPr>
              <a:t>secundatum</a:t>
            </a:r>
            <a:r>
              <a:rPr lang="fr-FR" sz="2000" i="1" dirty="0">
                <a:latin typeface="Times New Roman" panose="02020603050405020304" pitchFamily="18" charset="0"/>
                <a:cs typeface="Times New Roman" panose="02020603050405020304" pitchFamily="18" charset="0"/>
              </a:rPr>
              <a:t>.</a:t>
            </a:r>
          </a:p>
        </p:txBody>
      </p:sp>
      <p:pic>
        <p:nvPicPr>
          <p:cNvPr id="18" name="Image 17">
            <a:extLst>
              <a:ext uri="{FF2B5EF4-FFF2-40B4-BE49-F238E27FC236}">
                <a16:creationId xmlns="" xmlns:a16="http://schemas.microsoft.com/office/drawing/2014/main" id="{0B97CA0D-60EF-52B3-DA0C-A2C5B9FAB37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8116" r="12619" b="15939"/>
          <a:stretch/>
        </p:blipFill>
        <p:spPr bwMode="auto">
          <a:xfrm>
            <a:off x="1300766" y="3247873"/>
            <a:ext cx="2945013" cy="2740803"/>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19" name="Image 18">
            <a:extLst>
              <a:ext uri="{FF2B5EF4-FFF2-40B4-BE49-F238E27FC236}">
                <a16:creationId xmlns="" xmlns:a16="http://schemas.microsoft.com/office/drawing/2014/main" id="{DA53C0C7-C58F-15EA-C8E6-DF2B6D0BAA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07606" y="3215855"/>
            <a:ext cx="2756078" cy="2740803"/>
          </a:xfrm>
          <a:prstGeom prst="rect">
            <a:avLst/>
          </a:prstGeom>
          <a:ln>
            <a:noFill/>
          </a:ln>
          <a:effectLst>
            <a:outerShdw blurRad="292100" dist="139700" dir="2700000" algn="tl" rotWithShape="0">
              <a:srgbClr val="333333">
                <a:alpha val="65000"/>
              </a:srgbClr>
            </a:outerShdw>
          </a:effectLst>
        </p:spPr>
      </p:pic>
      <p:pic>
        <p:nvPicPr>
          <p:cNvPr id="20" name="Image 19">
            <a:extLst>
              <a:ext uri="{FF2B5EF4-FFF2-40B4-BE49-F238E27FC236}">
                <a16:creationId xmlns="" xmlns:a16="http://schemas.microsoft.com/office/drawing/2014/main" id="{B7D9E157-FB8A-146D-4154-182C3F90081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6427" t="9422" r="24346" b="22135"/>
          <a:stretch/>
        </p:blipFill>
        <p:spPr bwMode="auto">
          <a:xfrm>
            <a:off x="7525511" y="3247873"/>
            <a:ext cx="3137800" cy="2740803"/>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25" name="ZoneTexte 24">
            <a:extLst>
              <a:ext uri="{FF2B5EF4-FFF2-40B4-BE49-F238E27FC236}">
                <a16:creationId xmlns="" xmlns:a16="http://schemas.microsoft.com/office/drawing/2014/main" id="{831B6EA0-B072-2980-9260-B29210B3D9A7}"/>
              </a:ext>
            </a:extLst>
          </p:cNvPr>
          <p:cNvSpPr txBox="1"/>
          <p:nvPr/>
        </p:nvSpPr>
        <p:spPr>
          <a:xfrm>
            <a:off x="1300766" y="6061164"/>
            <a:ext cx="2945013" cy="423834"/>
          </a:xfrm>
          <a:prstGeom prst="rect">
            <a:avLst/>
          </a:prstGeom>
          <a:noFill/>
        </p:spPr>
        <p:txBody>
          <a:bodyPr wrap="square">
            <a:spAutoFit/>
          </a:bodyPr>
          <a:lstStyle/>
          <a:p>
            <a:pPr algn="just">
              <a:lnSpc>
                <a:spcPct val="115000"/>
              </a:lnSpc>
              <a:spcAft>
                <a:spcPts val="800"/>
              </a:spcAft>
              <a:buNone/>
            </a:pPr>
            <a:r>
              <a:rPr lang="fr-FR" sz="2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fr-FR" sz="2000"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hoto 1</a:t>
            </a:r>
            <a:r>
              <a:rPr lang="fr-FR" sz="2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000" i="1" kern="100" dirty="0" err="1">
                <a:effectLst/>
                <a:latin typeface="Times New Roman" panose="02020603050405020304" pitchFamily="18" charset="0"/>
                <a:ea typeface="Calibri" panose="020F0502020204030204" pitchFamily="34" charset="0"/>
                <a:cs typeface="Times New Roman" panose="02020603050405020304" pitchFamily="18" charset="0"/>
              </a:rPr>
              <a:t>Roytonea</a:t>
            </a:r>
            <a:r>
              <a:rPr lang="fr-FR" sz="20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000" i="1" kern="100" dirty="0" err="1">
                <a:effectLst/>
                <a:latin typeface="Times New Roman" panose="02020603050405020304" pitchFamily="18" charset="0"/>
                <a:ea typeface="Calibri" panose="020F0502020204030204" pitchFamily="34" charset="0"/>
                <a:cs typeface="Times New Roman" panose="02020603050405020304" pitchFamily="18" charset="0"/>
              </a:rPr>
              <a:t>regia</a:t>
            </a:r>
            <a:endParaRPr lang="fr-FR" sz="2000" i="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ZoneTexte 25">
            <a:extLst>
              <a:ext uri="{FF2B5EF4-FFF2-40B4-BE49-F238E27FC236}">
                <a16:creationId xmlns="" xmlns:a16="http://schemas.microsoft.com/office/drawing/2014/main" id="{8C4AF6F3-59D3-B067-7595-74508F06B32B}"/>
              </a:ext>
            </a:extLst>
          </p:cNvPr>
          <p:cNvSpPr txBox="1"/>
          <p:nvPr/>
        </p:nvSpPr>
        <p:spPr>
          <a:xfrm>
            <a:off x="4507605" y="6061164"/>
            <a:ext cx="2945013" cy="423834"/>
          </a:xfrm>
          <a:prstGeom prst="rect">
            <a:avLst/>
          </a:prstGeom>
          <a:noFill/>
        </p:spPr>
        <p:txBody>
          <a:bodyPr wrap="square">
            <a:spAutoFit/>
          </a:bodyPr>
          <a:lstStyle/>
          <a:p>
            <a:pPr algn="just">
              <a:lnSpc>
                <a:spcPct val="115000"/>
              </a:lnSpc>
              <a:spcAft>
                <a:spcPts val="800"/>
              </a:spcAft>
              <a:buNone/>
            </a:pPr>
            <a:r>
              <a:rPr lang="fr-BE" sz="2000" b="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a:t>
            </a:r>
            <a:r>
              <a:rPr lang="fr-FR" sz="2000" b="1" kern="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hoto</a:t>
            </a:r>
            <a:r>
              <a:rPr lang="fr-FR" sz="2000" b="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2</a:t>
            </a:r>
            <a:r>
              <a:rPr lang="fr-FR" sz="2000" b="1"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fr-FR" sz="20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Senna </a:t>
            </a:r>
            <a:r>
              <a:rPr lang="fr-FR" sz="2000" i="1" kern="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surattensis</a:t>
            </a:r>
            <a:endParaRPr lang="fr-FR" sz="2000" i="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ZoneTexte 26">
            <a:extLst>
              <a:ext uri="{FF2B5EF4-FFF2-40B4-BE49-F238E27FC236}">
                <a16:creationId xmlns="" xmlns:a16="http://schemas.microsoft.com/office/drawing/2014/main" id="{5A78C692-577A-41A8-255B-B00021D8FC4E}"/>
              </a:ext>
            </a:extLst>
          </p:cNvPr>
          <p:cNvSpPr txBox="1"/>
          <p:nvPr/>
        </p:nvSpPr>
        <p:spPr>
          <a:xfrm>
            <a:off x="7525511" y="6047570"/>
            <a:ext cx="3365723" cy="417871"/>
          </a:xfrm>
          <a:prstGeom prst="rect">
            <a:avLst/>
          </a:prstGeom>
          <a:noFill/>
        </p:spPr>
        <p:txBody>
          <a:bodyPr wrap="square">
            <a:spAutoFit/>
          </a:bodyPr>
          <a:lstStyle/>
          <a:p>
            <a:pPr algn="just">
              <a:lnSpc>
                <a:spcPct val="115000"/>
              </a:lnSpc>
              <a:spcAft>
                <a:spcPts val="800"/>
              </a:spcAft>
              <a:buNone/>
            </a:pPr>
            <a:r>
              <a:rPr lang="fr-BE" sz="2000" b="1" kern="100" dirty="0">
                <a:effectLst/>
                <a:latin typeface="Times New Roman" panose="02020603050405020304" pitchFamily="18" charset="0"/>
                <a:ea typeface="Calibri" panose="020F0502020204030204" pitchFamily="34" charset="0"/>
                <a:cs typeface="Times New Roman" panose="02020603050405020304" pitchFamily="18" charset="0"/>
              </a:rPr>
              <a:t>Photo 3</a:t>
            </a:r>
            <a:r>
              <a:rPr lang="fr-BE" sz="20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fr-BE" sz="2000" i="1" kern="100" dirty="0" err="1">
                <a:effectLst/>
                <a:latin typeface="Times New Roman" panose="02020603050405020304" pitchFamily="18" charset="0"/>
                <a:ea typeface="Calibri" panose="020F0502020204030204" pitchFamily="34" charset="0"/>
                <a:cs typeface="Times New Roman" panose="02020603050405020304" pitchFamily="18" charset="0"/>
              </a:rPr>
              <a:t>Volkameria</a:t>
            </a:r>
            <a:r>
              <a:rPr lang="fr-BE" sz="20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fr-BE" sz="2000" i="1" kern="100" dirty="0" err="1">
                <a:effectLst/>
                <a:latin typeface="Times New Roman" panose="02020603050405020304" pitchFamily="18" charset="0"/>
                <a:ea typeface="Calibri" panose="020F0502020204030204" pitchFamily="34" charset="0"/>
                <a:cs typeface="Times New Roman" panose="02020603050405020304" pitchFamily="18" charset="0"/>
              </a:rPr>
              <a:t>inermis</a:t>
            </a:r>
            <a:endParaRPr lang="fr-FR" sz="2000" i="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9348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 xmlns:a16="http://schemas.microsoft.com/office/drawing/2014/main" id="{C65D0FF7-6D78-B6F5-5D26-93E6F5639070}"/>
              </a:ext>
            </a:extLst>
          </p:cNvPr>
          <p:cNvSpPr txBox="1"/>
          <p:nvPr/>
        </p:nvSpPr>
        <p:spPr>
          <a:xfrm>
            <a:off x="0" y="78239"/>
            <a:ext cx="12192000" cy="661207"/>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lnSpc>
                <a:spcPct val="150000"/>
              </a:lnSpc>
              <a:spcBef>
                <a:spcPts val="800"/>
              </a:spcBef>
              <a:spcAft>
                <a:spcPts val="400"/>
              </a:spcAft>
            </a:pPr>
            <a:r>
              <a:rPr lang="fr-BE"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R 2: </a:t>
            </a:r>
            <a:r>
              <a:rPr lang="fr-FR" sz="2800" b="1" dirty="0">
                <a:latin typeface="Times New Roman" panose="02020603050405020304" pitchFamily="18" charset="0"/>
                <a:cs typeface="Times New Roman" panose="02020603050405020304" pitchFamily="18" charset="0"/>
              </a:rPr>
              <a:t>Politique de gestion des espaces verts de la nouvelle cité de Ouèdo</a:t>
            </a:r>
          </a:p>
        </p:txBody>
      </p:sp>
      <p:sp>
        <p:nvSpPr>
          <p:cNvPr id="6" name="ZoneTexte 5">
            <a:extLst>
              <a:ext uri="{FF2B5EF4-FFF2-40B4-BE49-F238E27FC236}">
                <a16:creationId xmlns="" xmlns:a16="http://schemas.microsoft.com/office/drawing/2014/main" id="{785D2A63-DC26-7824-AAE9-FBC5749F86D5}"/>
              </a:ext>
            </a:extLst>
          </p:cNvPr>
          <p:cNvSpPr txBox="1"/>
          <p:nvPr/>
        </p:nvSpPr>
        <p:spPr>
          <a:xfrm>
            <a:off x="656823" y="973450"/>
            <a:ext cx="10419007" cy="498663"/>
          </a:xfrm>
          <a:prstGeom prst="rect">
            <a:avLst/>
          </a:prstGeom>
          <a:noFill/>
        </p:spPr>
        <p:txBody>
          <a:bodyPr wrap="square">
            <a:spAutoFit/>
          </a:bodyPr>
          <a:lstStyle/>
          <a:p>
            <a:pPr algn="just">
              <a:lnSpc>
                <a:spcPct val="150000"/>
              </a:lnSpc>
              <a:spcBef>
                <a:spcPts val="800"/>
              </a:spcBef>
              <a:spcAft>
                <a:spcPts val="400"/>
              </a:spcAft>
            </a:pPr>
            <a:r>
              <a:rPr lang="fr-FR" sz="2000" b="1" kern="100" dirty="0">
                <a:latin typeface="Times New Roman" panose="02020603050405020304" pitchFamily="18" charset="0"/>
                <a:ea typeface="Times New Roman" panose="02020603050405020304" pitchFamily="18" charset="0"/>
                <a:cs typeface="Times New Roman" panose="02020603050405020304" pitchFamily="18" charset="0"/>
              </a:rPr>
              <a:t>2-1 </a:t>
            </a:r>
            <a:r>
              <a:rPr lang="fr-FR"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Acteurs de la gestion des espaces verts de la nouvelle cité de Ouèdo  </a:t>
            </a:r>
          </a:p>
        </p:txBody>
      </p:sp>
      <p:graphicFrame>
        <p:nvGraphicFramePr>
          <p:cNvPr id="9" name="Tableau 8">
            <a:extLst>
              <a:ext uri="{FF2B5EF4-FFF2-40B4-BE49-F238E27FC236}">
                <a16:creationId xmlns="" xmlns:a16="http://schemas.microsoft.com/office/drawing/2014/main" id="{04D9BC2D-0A09-A245-B084-CE02F9896DA3}"/>
              </a:ext>
            </a:extLst>
          </p:cNvPr>
          <p:cNvGraphicFramePr>
            <a:graphicFrameLocks noGrp="1"/>
          </p:cNvGraphicFramePr>
          <p:nvPr>
            <p:extLst>
              <p:ext uri="{D42A27DB-BD31-4B8C-83A1-F6EECF244321}">
                <p14:modId xmlns:p14="http://schemas.microsoft.com/office/powerpoint/2010/main" val="1773787382"/>
              </p:ext>
            </p:extLst>
          </p:nvPr>
        </p:nvGraphicFramePr>
        <p:xfrm>
          <a:off x="576777" y="2172668"/>
          <a:ext cx="10204294" cy="4439832"/>
        </p:xfrm>
        <a:graphic>
          <a:graphicData uri="http://schemas.openxmlformats.org/drawingml/2006/table">
            <a:tbl>
              <a:tblPr>
                <a:tableStyleId>{08FB837D-C827-4EFA-A057-4D05807E0F7C}</a:tableStyleId>
              </a:tblPr>
              <a:tblGrid>
                <a:gridCol w="2970489">
                  <a:extLst>
                    <a:ext uri="{9D8B030D-6E8A-4147-A177-3AD203B41FA5}">
                      <a16:colId xmlns="" xmlns:a16="http://schemas.microsoft.com/office/drawing/2014/main" val="111011140"/>
                    </a:ext>
                  </a:extLst>
                </a:gridCol>
                <a:gridCol w="2898945">
                  <a:extLst>
                    <a:ext uri="{9D8B030D-6E8A-4147-A177-3AD203B41FA5}">
                      <a16:colId xmlns="" xmlns:a16="http://schemas.microsoft.com/office/drawing/2014/main" val="685612856"/>
                    </a:ext>
                  </a:extLst>
                </a:gridCol>
                <a:gridCol w="4334860">
                  <a:extLst>
                    <a:ext uri="{9D8B030D-6E8A-4147-A177-3AD203B41FA5}">
                      <a16:colId xmlns="" xmlns:a16="http://schemas.microsoft.com/office/drawing/2014/main" val="4254182643"/>
                    </a:ext>
                  </a:extLst>
                </a:gridCol>
              </a:tblGrid>
              <a:tr h="733726">
                <a:tc>
                  <a:txBody>
                    <a:bodyPr/>
                    <a:lstStyle/>
                    <a:p>
                      <a:pPr algn="just">
                        <a:lnSpc>
                          <a:spcPct val="150000"/>
                        </a:lnSpc>
                        <a:spcAft>
                          <a:spcPts val="800"/>
                        </a:spcAft>
                        <a:buNone/>
                      </a:pPr>
                      <a:r>
                        <a:rPr lang="fr-FR" sz="1800" b="1" kern="0" dirty="0">
                          <a:effectLst/>
                          <a:latin typeface="Times New Roman" panose="02020603050405020304" pitchFamily="18" charset="0"/>
                          <a:cs typeface="Times New Roman" panose="02020603050405020304" pitchFamily="18" charset="0"/>
                        </a:rPr>
                        <a:t>Société d’entretien et de gestion des EV</a:t>
                      </a:r>
                      <a:endPar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800" b="1" kern="0">
                          <a:effectLst/>
                          <a:latin typeface="Times New Roman" panose="02020603050405020304" pitchFamily="18" charset="0"/>
                          <a:cs typeface="Times New Roman" panose="02020603050405020304" pitchFamily="18" charset="0"/>
                        </a:rPr>
                        <a:t>Superficie gérée</a:t>
                      </a:r>
                      <a:endParaRPr lang="fr-FR" sz="18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indent="449580" algn="just">
                        <a:lnSpc>
                          <a:spcPct val="150000"/>
                        </a:lnSpc>
                        <a:spcAft>
                          <a:spcPts val="800"/>
                        </a:spcAft>
                        <a:buNone/>
                      </a:pPr>
                      <a:r>
                        <a:rPr lang="fr-FR" sz="1800" b="1" kern="0" dirty="0">
                          <a:effectLst/>
                          <a:latin typeface="Times New Roman" panose="02020603050405020304" pitchFamily="18" charset="0"/>
                          <a:cs typeface="Times New Roman" panose="02020603050405020304" pitchFamily="18" charset="0"/>
                        </a:rPr>
                        <a:t>Rôles </a:t>
                      </a:r>
                      <a:endPar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2549816296"/>
                  </a:ext>
                </a:extLst>
              </a:tr>
              <a:tr h="343498">
                <a:tc>
                  <a:txBody>
                    <a:bodyPr/>
                    <a:lstStyle/>
                    <a:p>
                      <a:pPr algn="just">
                        <a:lnSpc>
                          <a:spcPct val="150000"/>
                        </a:lnSpc>
                        <a:spcAft>
                          <a:spcPts val="800"/>
                        </a:spcAft>
                        <a:buNone/>
                      </a:pPr>
                      <a:r>
                        <a:rPr lang="fr-FR" sz="1800" kern="0" dirty="0">
                          <a:effectLst/>
                          <a:latin typeface="Times New Roman" panose="02020603050405020304" pitchFamily="18" charset="0"/>
                          <a:cs typeface="Times New Roman" panose="02020603050405020304" pitchFamily="18" charset="0"/>
                        </a:rPr>
                        <a:t>Nexus Floral</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800" kern="0" dirty="0">
                          <a:effectLst/>
                          <a:latin typeface="Times New Roman" panose="02020603050405020304" pitchFamily="18" charset="0"/>
                          <a:cs typeface="Times New Roman" panose="02020603050405020304" pitchFamily="18" charset="0"/>
                        </a:rPr>
                        <a:t>21977,6 m</a:t>
                      </a:r>
                      <a:r>
                        <a:rPr lang="fr-FR" sz="1800" kern="0" baseline="30000" dirty="0">
                          <a:effectLst/>
                          <a:latin typeface="Times New Roman" panose="02020603050405020304" pitchFamily="18" charset="0"/>
                          <a:cs typeface="Times New Roman" panose="02020603050405020304" pitchFamily="18" charset="0"/>
                        </a:rPr>
                        <a:t>2</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rowSpan="3">
                  <a:txBody>
                    <a:bodyPr/>
                    <a:lstStyle/>
                    <a:p>
                      <a:pPr algn="just">
                        <a:lnSpc>
                          <a:spcPct val="150000"/>
                        </a:lnSpc>
                        <a:spcAft>
                          <a:spcPts val="800"/>
                        </a:spcAft>
                        <a:buNone/>
                      </a:pPr>
                      <a:r>
                        <a:rPr lang="fr-FR" sz="1800" kern="0" dirty="0">
                          <a:effectLst/>
                          <a:latin typeface="Times New Roman" panose="02020603050405020304" pitchFamily="18" charset="0"/>
                          <a:cs typeface="Times New Roman" panose="02020603050405020304" pitchFamily="18" charset="0"/>
                        </a:rPr>
                        <a:t>Conception, réalisation des espaces verts et entretien des espaces verts  </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434945441"/>
                  </a:ext>
                </a:extLst>
              </a:tr>
              <a:tr h="343498">
                <a:tc>
                  <a:txBody>
                    <a:bodyPr/>
                    <a:lstStyle/>
                    <a:p>
                      <a:pPr algn="just">
                        <a:lnSpc>
                          <a:spcPct val="150000"/>
                        </a:lnSpc>
                        <a:spcAft>
                          <a:spcPts val="800"/>
                        </a:spcAft>
                        <a:buNone/>
                      </a:pPr>
                      <a:r>
                        <a:rPr lang="fr-FR" sz="1800" kern="0" dirty="0">
                          <a:effectLst/>
                          <a:latin typeface="Times New Roman" panose="02020603050405020304" pitchFamily="18" charset="0"/>
                          <a:cs typeface="Times New Roman" panose="02020603050405020304" pitchFamily="18" charset="0"/>
                        </a:rPr>
                        <a:t>SIBI</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800" kern="0">
                          <a:effectLst/>
                          <a:latin typeface="Times New Roman" panose="02020603050405020304" pitchFamily="18" charset="0"/>
                          <a:cs typeface="Times New Roman" panose="02020603050405020304" pitchFamily="18" charset="0"/>
                        </a:rPr>
                        <a:t>20868,36 m</a:t>
                      </a:r>
                      <a:r>
                        <a:rPr lang="fr-FR" sz="1800" kern="0" baseline="30000">
                          <a:effectLst/>
                          <a:latin typeface="Times New Roman" panose="02020603050405020304" pitchFamily="18" charset="0"/>
                          <a:cs typeface="Times New Roman" panose="02020603050405020304" pitchFamily="18" charset="0"/>
                        </a:rPr>
                        <a:t>2</a:t>
                      </a:r>
                      <a:endParaRPr lang="fr-FR"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fr-FR"/>
                    </a:p>
                  </a:txBody>
                  <a:tcPr/>
                </a:tc>
                <a:extLst>
                  <a:ext uri="{0D108BD9-81ED-4DB2-BD59-A6C34878D82A}">
                    <a16:rowId xmlns="" xmlns:a16="http://schemas.microsoft.com/office/drawing/2014/main" val="3424620269"/>
                  </a:ext>
                </a:extLst>
              </a:tr>
              <a:tr h="533312">
                <a:tc>
                  <a:txBody>
                    <a:bodyPr/>
                    <a:lstStyle/>
                    <a:p>
                      <a:pPr algn="just">
                        <a:lnSpc>
                          <a:spcPct val="150000"/>
                        </a:lnSpc>
                        <a:spcAft>
                          <a:spcPts val="800"/>
                        </a:spcAft>
                        <a:buNone/>
                      </a:pPr>
                      <a:r>
                        <a:rPr lang="fr-FR" sz="1800" kern="0" dirty="0">
                          <a:effectLst/>
                          <a:latin typeface="Times New Roman" panose="02020603050405020304" pitchFamily="18" charset="0"/>
                          <a:cs typeface="Times New Roman" panose="02020603050405020304" pitchFamily="18" charset="0"/>
                        </a:rPr>
                        <a:t>MAIN Verte</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800" kern="0" dirty="0">
                          <a:effectLst/>
                          <a:latin typeface="Times New Roman" panose="02020603050405020304" pitchFamily="18" charset="0"/>
                          <a:cs typeface="Times New Roman" panose="02020603050405020304" pitchFamily="18" charset="0"/>
                        </a:rPr>
                        <a:t>32877,81m</a:t>
                      </a:r>
                      <a:r>
                        <a:rPr lang="fr-FR" sz="1800" kern="0" baseline="30000" dirty="0">
                          <a:effectLst/>
                          <a:latin typeface="Times New Roman" panose="02020603050405020304" pitchFamily="18" charset="0"/>
                          <a:cs typeface="Times New Roman" panose="02020603050405020304" pitchFamily="18" charset="0"/>
                        </a:rPr>
                        <a:t>2</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fr-FR"/>
                    </a:p>
                  </a:txBody>
                  <a:tcPr/>
                </a:tc>
                <a:extLst>
                  <a:ext uri="{0D108BD9-81ED-4DB2-BD59-A6C34878D82A}">
                    <a16:rowId xmlns="" xmlns:a16="http://schemas.microsoft.com/office/drawing/2014/main" val="4194806329"/>
                  </a:ext>
                </a:extLst>
              </a:tr>
              <a:tr h="2097117">
                <a:tc>
                  <a:txBody>
                    <a:bodyPr/>
                    <a:lstStyle/>
                    <a:p>
                      <a:pPr algn="just">
                        <a:lnSpc>
                          <a:spcPct val="150000"/>
                        </a:lnSpc>
                        <a:spcAft>
                          <a:spcPts val="800"/>
                        </a:spcAft>
                        <a:buNone/>
                      </a:pPr>
                      <a:r>
                        <a:rPr lang="fr-FR" sz="1800" kern="100" dirty="0" err="1">
                          <a:effectLst/>
                          <a:latin typeface="Times New Roman" panose="02020603050405020304" pitchFamily="18" charset="0"/>
                          <a:cs typeface="Times New Roman" panose="02020603050405020304" pitchFamily="18" charset="0"/>
                        </a:rPr>
                        <a:t>SimAU</a:t>
                      </a:r>
                      <a:r>
                        <a:rPr lang="fr-FR" sz="1800" kern="100" dirty="0">
                          <a:effectLst/>
                          <a:latin typeface="Times New Roman" panose="02020603050405020304" pitchFamily="18" charset="0"/>
                          <a:cs typeface="Times New Roman" panose="02020603050405020304" pitchFamily="18" charset="0"/>
                        </a:rPr>
                        <a:t> ( Société Immobilière d’Aménagement Urbain) et </a:t>
                      </a:r>
                    </a:p>
                    <a:p>
                      <a:pPr algn="just">
                        <a:lnSpc>
                          <a:spcPct val="150000"/>
                        </a:lnSpc>
                        <a:spcAft>
                          <a:spcPts val="800"/>
                        </a:spcAft>
                        <a:buNone/>
                      </a:pPr>
                      <a:r>
                        <a:rPr lang="fr-FR" sz="1800" kern="100" dirty="0">
                          <a:effectLst/>
                          <a:latin typeface="Times New Roman" panose="02020603050405020304" pitchFamily="18" charset="0"/>
                          <a:cs typeface="Times New Roman" panose="02020603050405020304" pitchFamily="18" charset="0"/>
                        </a:rPr>
                        <a:t>L’ANAP (Agence Nationale du Paysage )</a:t>
                      </a:r>
                    </a:p>
                    <a:p>
                      <a:pPr algn="just">
                        <a:lnSpc>
                          <a:spcPct val="150000"/>
                        </a:lnSpc>
                        <a:spcAft>
                          <a:spcPts val="800"/>
                        </a:spcAft>
                        <a:buNone/>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800" kern="0" dirty="0">
                          <a:effectLst/>
                          <a:latin typeface="Times New Roman" panose="02020603050405020304" pitchFamily="18" charset="0"/>
                          <a:cs typeface="Times New Roman" panose="02020603050405020304" pitchFamily="18" charset="0"/>
                        </a:rPr>
                        <a:t>Ensemble des espaces verts et logements</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fr-FR" sz="1800" kern="0" dirty="0">
                          <a:effectLst/>
                          <a:latin typeface="Times New Roman" panose="02020603050405020304" pitchFamily="18" charset="0"/>
                          <a:cs typeface="Times New Roman" panose="02020603050405020304" pitchFamily="18" charset="0"/>
                        </a:rPr>
                        <a:t>Contrôlent les travaux et les aménagements du site</a:t>
                      </a:r>
                      <a:endParaRPr lang="fr-FR" sz="18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fr-FR" sz="1800" kern="0" dirty="0">
                          <a:effectLst/>
                          <a:latin typeface="Times New Roman" panose="02020603050405020304" pitchFamily="18" charset="0"/>
                          <a:cs typeface="Times New Roman" panose="02020603050405020304" pitchFamily="18" charset="0"/>
                        </a:rPr>
                        <a:t> </a:t>
                      </a: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418988712"/>
                  </a:ext>
                </a:extLst>
              </a:tr>
            </a:tbl>
          </a:graphicData>
        </a:graphic>
      </p:graphicFrame>
      <p:sp>
        <p:nvSpPr>
          <p:cNvPr id="11" name="ZoneTexte 10">
            <a:extLst>
              <a:ext uri="{FF2B5EF4-FFF2-40B4-BE49-F238E27FC236}">
                <a16:creationId xmlns="" xmlns:a16="http://schemas.microsoft.com/office/drawing/2014/main" id="{A50360CE-9A55-FB3B-69FA-4B4083F8009B}"/>
              </a:ext>
            </a:extLst>
          </p:cNvPr>
          <p:cNvSpPr txBox="1"/>
          <p:nvPr/>
        </p:nvSpPr>
        <p:spPr>
          <a:xfrm>
            <a:off x="2629851" y="6348878"/>
            <a:ext cx="6098146" cy="504625"/>
          </a:xfrm>
          <a:prstGeom prst="rect">
            <a:avLst/>
          </a:prstGeom>
          <a:noFill/>
        </p:spPr>
        <p:txBody>
          <a:bodyPr wrap="square">
            <a:spAutoFit/>
          </a:bodyPr>
          <a:lstStyle/>
          <a:p>
            <a:pPr algn="just">
              <a:lnSpc>
                <a:spcPct val="150000"/>
              </a:lnSpc>
              <a:spcAft>
                <a:spcPts val="800"/>
              </a:spcAft>
            </a:pPr>
            <a:r>
              <a:rPr lang="fr-FR" sz="2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Source </a:t>
            </a: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Résultats de terrain, juin 2025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ZoneTexte 3">
            <a:extLst>
              <a:ext uri="{FF2B5EF4-FFF2-40B4-BE49-F238E27FC236}">
                <a16:creationId xmlns="" xmlns:a16="http://schemas.microsoft.com/office/drawing/2014/main" id="{671E90CE-C984-4678-0113-A9F954711952}"/>
              </a:ext>
            </a:extLst>
          </p:cNvPr>
          <p:cNvSpPr txBox="1"/>
          <p:nvPr/>
        </p:nvSpPr>
        <p:spPr>
          <a:xfrm>
            <a:off x="444322" y="1570398"/>
            <a:ext cx="7521261" cy="504625"/>
          </a:xfrm>
          <a:prstGeom prst="rect">
            <a:avLst/>
          </a:prstGeom>
          <a:noFill/>
        </p:spPr>
        <p:txBody>
          <a:bodyPr wrap="square">
            <a:spAutoFit/>
          </a:bodyPr>
          <a:lstStyle/>
          <a:p>
            <a:pPr algn="just">
              <a:lnSpc>
                <a:spcPct val="150000"/>
              </a:lnSpc>
              <a:spcAft>
                <a:spcPts val="800"/>
              </a:spcAft>
              <a:tabLst>
                <a:tab pos="1129030" algn="l"/>
              </a:tabLst>
            </a:pPr>
            <a:r>
              <a:rPr lang="fr-FR" sz="2000" b="1" kern="100" dirty="0">
                <a:effectLst/>
                <a:latin typeface="Times New Roman" panose="02020603050405020304" pitchFamily="18" charset="0"/>
                <a:ea typeface="Calibri" panose="020F0502020204030204" pitchFamily="34" charset="0"/>
                <a:cs typeface="Times New Roman" panose="02020603050405020304" pitchFamily="18" charset="0"/>
              </a:rPr>
              <a:t>Tableau I:</a:t>
            </a:r>
            <a:r>
              <a:rPr lang="fr-FR" sz="2000" kern="100" dirty="0">
                <a:effectLst/>
                <a:latin typeface="Times New Roman" panose="02020603050405020304" pitchFamily="18" charset="0"/>
                <a:ea typeface="Calibri" panose="020F0502020204030204" pitchFamily="34" charset="0"/>
                <a:cs typeface="Times New Roman" panose="02020603050405020304" pitchFamily="18" charset="0"/>
              </a:rPr>
              <a:t> Sociétés impliquées dans la gestion des espaces verts</a:t>
            </a:r>
            <a:r>
              <a:rPr lang="fr-FR" sz="20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47337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 xmlns:a16="http://schemas.microsoft.com/office/drawing/2014/main" id="{CE7CF153-7C08-2188-961A-E8BAB5871F42}"/>
              </a:ext>
            </a:extLst>
          </p:cNvPr>
          <p:cNvSpPr txBox="1"/>
          <p:nvPr/>
        </p:nvSpPr>
        <p:spPr>
          <a:xfrm>
            <a:off x="1220273" y="253920"/>
            <a:ext cx="6098146" cy="498663"/>
          </a:xfrm>
          <a:prstGeom prst="rect">
            <a:avLst/>
          </a:prstGeom>
          <a:noFill/>
        </p:spPr>
        <p:txBody>
          <a:bodyPr wrap="square">
            <a:spAutoFit/>
          </a:bodyPr>
          <a:lstStyle/>
          <a:p>
            <a:pPr algn="just">
              <a:lnSpc>
                <a:spcPct val="150000"/>
              </a:lnSpc>
              <a:spcBef>
                <a:spcPts val="800"/>
              </a:spcBef>
              <a:spcAft>
                <a:spcPts val="400"/>
              </a:spcAft>
            </a:pPr>
            <a:r>
              <a:rPr lang="fr-FR"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2-2 Entretien des Espaces Verts </a:t>
            </a:r>
          </a:p>
        </p:txBody>
      </p:sp>
      <p:pic>
        <p:nvPicPr>
          <p:cNvPr id="4" name="Image 3">
            <a:extLst>
              <a:ext uri="{FF2B5EF4-FFF2-40B4-BE49-F238E27FC236}">
                <a16:creationId xmlns="" xmlns:a16="http://schemas.microsoft.com/office/drawing/2014/main" id="{2F9DA5CB-BD47-C88B-5ACB-80A5D0FAC7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870" y="1338787"/>
            <a:ext cx="2877821" cy="2504440"/>
          </a:xfrm>
          <a:prstGeom prst="rect">
            <a:avLst/>
          </a:prstGeom>
        </p:spPr>
      </p:pic>
      <p:pic>
        <p:nvPicPr>
          <p:cNvPr id="5" name="Image 4">
            <a:extLst>
              <a:ext uri="{FF2B5EF4-FFF2-40B4-BE49-F238E27FC236}">
                <a16:creationId xmlns="" xmlns:a16="http://schemas.microsoft.com/office/drawing/2014/main" id="{FD843FA3-2F19-E773-19C8-E5F740A2011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5000" y="1384264"/>
            <a:ext cx="2981000" cy="2458963"/>
          </a:xfrm>
          <a:prstGeom prst="rect">
            <a:avLst/>
          </a:prstGeom>
        </p:spPr>
      </p:pic>
      <p:pic>
        <p:nvPicPr>
          <p:cNvPr id="6" name="Image 5">
            <a:extLst>
              <a:ext uri="{FF2B5EF4-FFF2-40B4-BE49-F238E27FC236}">
                <a16:creationId xmlns="" xmlns:a16="http://schemas.microsoft.com/office/drawing/2014/main" id="{7A452207-DB9D-417A-B1E3-92A121272A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39309" y="1384263"/>
            <a:ext cx="2687438" cy="2458964"/>
          </a:xfrm>
          <a:prstGeom prst="rect">
            <a:avLst/>
          </a:prstGeom>
        </p:spPr>
      </p:pic>
      <p:pic>
        <p:nvPicPr>
          <p:cNvPr id="7" name="Image 6">
            <a:extLst>
              <a:ext uri="{FF2B5EF4-FFF2-40B4-BE49-F238E27FC236}">
                <a16:creationId xmlns="" xmlns:a16="http://schemas.microsoft.com/office/drawing/2014/main" id="{42EB0F40-CFC4-D24E-899D-BEE44261204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70056" y="1384263"/>
            <a:ext cx="3028074" cy="2458964"/>
          </a:xfrm>
          <a:prstGeom prst="rect">
            <a:avLst/>
          </a:prstGeom>
        </p:spPr>
      </p:pic>
      <p:sp>
        <p:nvSpPr>
          <p:cNvPr id="9" name="ZoneTexte 8">
            <a:extLst>
              <a:ext uri="{FF2B5EF4-FFF2-40B4-BE49-F238E27FC236}">
                <a16:creationId xmlns="" xmlns:a16="http://schemas.microsoft.com/office/drawing/2014/main" id="{07FBCEA4-A59F-7565-75D9-36B5B55A07F1}"/>
              </a:ext>
            </a:extLst>
          </p:cNvPr>
          <p:cNvSpPr txBox="1"/>
          <p:nvPr/>
        </p:nvSpPr>
        <p:spPr>
          <a:xfrm>
            <a:off x="3718955" y="5048902"/>
            <a:ext cx="6098146" cy="961161"/>
          </a:xfrm>
          <a:prstGeom prst="rect">
            <a:avLst/>
          </a:prstGeom>
          <a:noFill/>
        </p:spPr>
        <p:txBody>
          <a:bodyPr wrap="square">
            <a:spAutoFit/>
          </a:bodyPr>
          <a:lstStyle/>
          <a:p>
            <a:pPr algn="just">
              <a:lnSpc>
                <a:spcPct val="115000"/>
              </a:lnSpc>
              <a:spcAft>
                <a:spcPts val="800"/>
              </a:spcAft>
              <a:buNone/>
            </a:pPr>
            <a:r>
              <a:rPr lang="fr-FR" sz="2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Planche 3 : </a:t>
            </a: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Activités d’entretien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fr-FR" sz="2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Prise de vue</a:t>
            </a: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KOUKPO Richsen, juin 2025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ZoneTexte 10">
            <a:extLst>
              <a:ext uri="{FF2B5EF4-FFF2-40B4-BE49-F238E27FC236}">
                <a16:creationId xmlns="" xmlns:a16="http://schemas.microsoft.com/office/drawing/2014/main" id="{FF9A61CC-0739-58E6-3B9F-DF857668B835}"/>
              </a:ext>
            </a:extLst>
          </p:cNvPr>
          <p:cNvSpPr txBox="1"/>
          <p:nvPr/>
        </p:nvSpPr>
        <p:spPr>
          <a:xfrm>
            <a:off x="93870" y="4024731"/>
            <a:ext cx="2545311" cy="400110"/>
          </a:xfrm>
          <a:prstGeom prst="rect">
            <a:avLst/>
          </a:prstGeom>
          <a:noFill/>
        </p:spPr>
        <p:txBody>
          <a:bodyPr wrap="square">
            <a:spAutoFit/>
          </a:bodyPr>
          <a:lstStyle/>
          <a:p>
            <a:pPr algn="ctr"/>
            <a:r>
              <a:rPr lang="fr-FR" sz="2000" dirty="0">
                <a:effectLst/>
                <a:latin typeface="Times New Roman" panose="02020603050405020304" pitchFamily="18" charset="0"/>
                <a:ea typeface="Calibri" panose="020F0502020204030204" pitchFamily="34" charset="0"/>
              </a:rPr>
              <a:t>La Taille de formation</a:t>
            </a:r>
            <a:endParaRPr lang="fr-FR" sz="2000" dirty="0"/>
          </a:p>
        </p:txBody>
      </p:sp>
      <p:sp>
        <p:nvSpPr>
          <p:cNvPr id="13" name="ZoneTexte 12">
            <a:extLst>
              <a:ext uri="{FF2B5EF4-FFF2-40B4-BE49-F238E27FC236}">
                <a16:creationId xmlns="" xmlns:a16="http://schemas.microsoft.com/office/drawing/2014/main" id="{662F0049-2F66-4931-5EE7-03113C8E2679}"/>
              </a:ext>
            </a:extLst>
          </p:cNvPr>
          <p:cNvSpPr txBox="1"/>
          <p:nvPr/>
        </p:nvSpPr>
        <p:spPr>
          <a:xfrm>
            <a:off x="3264487" y="4024731"/>
            <a:ext cx="2682026" cy="400110"/>
          </a:xfrm>
          <a:prstGeom prst="rect">
            <a:avLst/>
          </a:prstGeom>
          <a:noFill/>
        </p:spPr>
        <p:txBody>
          <a:bodyPr wrap="square">
            <a:spAutoFit/>
          </a:bodyPr>
          <a:lstStyle/>
          <a:p>
            <a:pPr algn="ctr"/>
            <a:r>
              <a:rPr lang="fr-FR" sz="2000" dirty="0">
                <a:effectLst/>
                <a:latin typeface="Times New Roman" panose="02020603050405020304" pitchFamily="18" charset="0"/>
                <a:ea typeface="Calibri" panose="020F0502020204030204" pitchFamily="34" charset="0"/>
              </a:rPr>
              <a:t>Le Bordurage</a:t>
            </a:r>
            <a:endParaRPr lang="fr-FR" sz="2000" dirty="0"/>
          </a:p>
        </p:txBody>
      </p:sp>
      <p:sp>
        <p:nvSpPr>
          <p:cNvPr id="15" name="ZoneTexte 14">
            <a:extLst>
              <a:ext uri="{FF2B5EF4-FFF2-40B4-BE49-F238E27FC236}">
                <a16:creationId xmlns="" xmlns:a16="http://schemas.microsoft.com/office/drawing/2014/main" id="{E52BEEE9-2C04-981A-F584-54312BE5854B}"/>
              </a:ext>
            </a:extLst>
          </p:cNvPr>
          <p:cNvSpPr txBox="1"/>
          <p:nvPr/>
        </p:nvSpPr>
        <p:spPr>
          <a:xfrm>
            <a:off x="6260915" y="4024731"/>
            <a:ext cx="2835375" cy="400110"/>
          </a:xfrm>
          <a:prstGeom prst="rect">
            <a:avLst/>
          </a:prstGeom>
          <a:noFill/>
        </p:spPr>
        <p:txBody>
          <a:bodyPr wrap="square">
            <a:spAutoFit/>
          </a:bodyPr>
          <a:lstStyle/>
          <a:p>
            <a:pPr algn="ctr"/>
            <a:r>
              <a:rPr lang="fr-FR" sz="2000" dirty="0">
                <a:effectLst/>
                <a:latin typeface="Times New Roman" panose="02020603050405020304" pitchFamily="18" charset="0"/>
                <a:ea typeface="Calibri" panose="020F0502020204030204" pitchFamily="34" charset="0"/>
              </a:rPr>
              <a:t>La Plantation d’arbre</a:t>
            </a:r>
            <a:endParaRPr lang="fr-FR" sz="2000" dirty="0"/>
          </a:p>
        </p:txBody>
      </p:sp>
      <p:sp>
        <p:nvSpPr>
          <p:cNvPr id="17" name="ZoneTexte 16">
            <a:extLst>
              <a:ext uri="{FF2B5EF4-FFF2-40B4-BE49-F238E27FC236}">
                <a16:creationId xmlns="" xmlns:a16="http://schemas.microsoft.com/office/drawing/2014/main" id="{C814FC4F-FD46-4464-20C5-6440FF08D118}"/>
              </a:ext>
            </a:extLst>
          </p:cNvPr>
          <p:cNvSpPr txBox="1"/>
          <p:nvPr/>
        </p:nvSpPr>
        <p:spPr>
          <a:xfrm>
            <a:off x="9410692" y="4024731"/>
            <a:ext cx="2503169" cy="400110"/>
          </a:xfrm>
          <a:prstGeom prst="rect">
            <a:avLst/>
          </a:prstGeom>
          <a:noFill/>
        </p:spPr>
        <p:txBody>
          <a:bodyPr wrap="square">
            <a:spAutoFit/>
          </a:bodyPr>
          <a:lstStyle/>
          <a:p>
            <a:pPr algn="ctr"/>
            <a:r>
              <a:rPr lang="fr-FR" sz="2000" dirty="0">
                <a:effectLst/>
                <a:latin typeface="Times New Roman" panose="02020603050405020304" pitchFamily="18" charset="0"/>
                <a:ea typeface="Calibri" panose="020F0502020204030204" pitchFamily="34" charset="0"/>
              </a:rPr>
              <a:t>Le Désherbage</a:t>
            </a:r>
            <a:endParaRPr lang="fr-FR" sz="2000" dirty="0"/>
          </a:p>
        </p:txBody>
      </p:sp>
    </p:spTree>
    <p:extLst>
      <p:ext uri="{BB962C8B-B14F-4D97-AF65-F5344CB8AC3E}">
        <p14:creationId xmlns:p14="http://schemas.microsoft.com/office/powerpoint/2010/main" val="1606260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 xmlns:a16="http://schemas.microsoft.com/office/drawing/2014/main" id="{B8C493E5-4F3C-B1ED-3476-B6B5E8EE951D}"/>
              </a:ext>
            </a:extLst>
          </p:cNvPr>
          <p:cNvSpPr txBox="1"/>
          <p:nvPr/>
        </p:nvSpPr>
        <p:spPr>
          <a:xfrm>
            <a:off x="1194515" y="275702"/>
            <a:ext cx="8329313" cy="400110"/>
          </a:xfrm>
          <a:prstGeom prst="rect">
            <a:avLst/>
          </a:prstGeom>
          <a:noFill/>
        </p:spPr>
        <p:txBody>
          <a:bodyPr wrap="square">
            <a:spAutoFit/>
          </a:bodyPr>
          <a:lstStyle/>
          <a:p>
            <a:pPr algn="ctr"/>
            <a:r>
              <a:rPr lang="fr-FR" sz="2000" b="1" dirty="0">
                <a:effectLst/>
                <a:latin typeface="Times New Roman" panose="02020603050405020304" pitchFamily="18" charset="0"/>
                <a:ea typeface="Calibri" panose="020F0502020204030204" pitchFamily="34" charset="0"/>
                <a:cs typeface="Times New Roman" panose="02020603050405020304" pitchFamily="18" charset="0"/>
              </a:rPr>
              <a:t>2-3  Difficultés rencontrées dans l’entretien et la gestion des Espaces Verts</a:t>
            </a:r>
            <a:endParaRPr lang="fr-FR" sz="2000" b="1" dirty="0">
              <a:latin typeface="Times New Roman" panose="02020603050405020304" pitchFamily="18" charset="0"/>
              <a:cs typeface="Times New Roman" panose="02020603050405020304" pitchFamily="18" charset="0"/>
            </a:endParaRPr>
          </a:p>
        </p:txBody>
      </p:sp>
      <p:graphicFrame>
        <p:nvGraphicFramePr>
          <p:cNvPr id="4" name="Graphique 3">
            <a:extLst>
              <a:ext uri="{FF2B5EF4-FFF2-40B4-BE49-F238E27FC236}">
                <a16:creationId xmlns="" xmlns:a16="http://schemas.microsoft.com/office/drawing/2014/main" id="{949AC138-B2F9-CB19-931F-733410146D2B}"/>
              </a:ext>
            </a:extLst>
          </p:cNvPr>
          <p:cNvGraphicFramePr/>
          <p:nvPr>
            <p:extLst>
              <p:ext uri="{D42A27DB-BD31-4B8C-83A1-F6EECF244321}">
                <p14:modId xmlns:p14="http://schemas.microsoft.com/office/powerpoint/2010/main" val="3225353890"/>
              </p:ext>
            </p:extLst>
          </p:nvPr>
        </p:nvGraphicFramePr>
        <p:xfrm>
          <a:off x="1968187" y="1246030"/>
          <a:ext cx="6430225" cy="3583547"/>
        </p:xfrm>
        <a:graphic>
          <a:graphicData uri="http://schemas.openxmlformats.org/drawingml/2006/chart">
            <c:chart xmlns:c="http://schemas.openxmlformats.org/drawingml/2006/chart" xmlns:r="http://schemas.openxmlformats.org/officeDocument/2006/relationships" r:id="rId3"/>
          </a:graphicData>
        </a:graphic>
      </p:graphicFrame>
      <p:sp>
        <p:nvSpPr>
          <p:cNvPr id="6" name="ZoneTexte 5">
            <a:extLst>
              <a:ext uri="{FF2B5EF4-FFF2-40B4-BE49-F238E27FC236}">
                <a16:creationId xmlns="" xmlns:a16="http://schemas.microsoft.com/office/drawing/2014/main" id="{9EDA7991-FEC1-BCBA-18A4-4569CE836F4D}"/>
              </a:ext>
            </a:extLst>
          </p:cNvPr>
          <p:cNvSpPr txBox="1"/>
          <p:nvPr/>
        </p:nvSpPr>
        <p:spPr>
          <a:xfrm>
            <a:off x="1573302" y="5025944"/>
            <a:ext cx="6098146" cy="423834"/>
          </a:xfrm>
          <a:prstGeom prst="rect">
            <a:avLst/>
          </a:prstGeom>
          <a:noFill/>
        </p:spPr>
        <p:txBody>
          <a:bodyPr wrap="square">
            <a:spAutoFit/>
          </a:bodyPr>
          <a:lstStyle/>
          <a:p>
            <a:pPr algn="ctr">
              <a:lnSpc>
                <a:spcPct val="115000"/>
              </a:lnSpc>
              <a:spcAft>
                <a:spcPts val="800"/>
              </a:spcAft>
            </a:pPr>
            <a:r>
              <a:rPr lang="fr-FR" sz="2000" b="1" kern="100" dirty="0">
                <a:effectLst/>
                <a:latin typeface="Times New Roman" panose="02020603050405020304" pitchFamily="18" charset="0"/>
                <a:ea typeface="Calibri" panose="020F0502020204030204" pitchFamily="34" charset="0"/>
                <a:cs typeface="Times New Roman" panose="02020603050405020304" pitchFamily="18" charset="0"/>
              </a:rPr>
              <a:t>Figure 5 : </a:t>
            </a:r>
            <a:r>
              <a:rPr lang="fr-FR" sz="2000" kern="100" dirty="0">
                <a:effectLst/>
                <a:latin typeface="Times New Roman" panose="02020603050405020304" pitchFamily="18" charset="0"/>
                <a:ea typeface="Calibri" panose="020F0502020204030204" pitchFamily="34" charset="0"/>
                <a:cs typeface="Times New Roman" panose="02020603050405020304" pitchFamily="18" charset="0"/>
              </a:rPr>
              <a:t>Difficultés rencontrées</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ZoneTexte 7">
            <a:extLst>
              <a:ext uri="{FF2B5EF4-FFF2-40B4-BE49-F238E27FC236}">
                <a16:creationId xmlns="" xmlns:a16="http://schemas.microsoft.com/office/drawing/2014/main" id="{25CAB609-DB23-8F3E-8ECF-44040FB7C535}"/>
              </a:ext>
            </a:extLst>
          </p:cNvPr>
          <p:cNvSpPr txBox="1"/>
          <p:nvPr/>
        </p:nvSpPr>
        <p:spPr>
          <a:xfrm>
            <a:off x="1856637" y="5416628"/>
            <a:ext cx="5986597" cy="423834"/>
          </a:xfrm>
          <a:prstGeom prst="rect">
            <a:avLst/>
          </a:prstGeom>
          <a:noFill/>
        </p:spPr>
        <p:txBody>
          <a:bodyPr wrap="square">
            <a:spAutoFit/>
          </a:bodyPr>
          <a:lstStyle/>
          <a:p>
            <a:pPr algn="ctr">
              <a:lnSpc>
                <a:spcPct val="115000"/>
              </a:lnSpc>
              <a:spcAft>
                <a:spcPts val="800"/>
              </a:spcAft>
            </a:pPr>
            <a:r>
              <a:rPr lang="fr-FR" sz="2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Source </a:t>
            </a: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Résultats de terrain, juin 2025</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0549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 xmlns:a16="http://schemas.microsoft.com/office/drawing/2014/main" id="{172E2A2C-05A8-27D6-2A88-4EA180282251}"/>
              </a:ext>
            </a:extLst>
          </p:cNvPr>
          <p:cNvSpPr txBox="1"/>
          <p:nvPr/>
        </p:nvSpPr>
        <p:spPr>
          <a:xfrm>
            <a:off x="0" y="0"/>
            <a:ext cx="12192000" cy="113396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lnSpc>
                <a:spcPct val="150000"/>
              </a:lnSpc>
              <a:spcBef>
                <a:spcPts val="800"/>
              </a:spcBef>
              <a:spcAft>
                <a:spcPts val="400"/>
              </a:spcAft>
            </a:pPr>
            <a:r>
              <a:rPr lang="fr-BE"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R </a:t>
            </a:r>
            <a:r>
              <a:rPr lang="fr-BE" sz="2400" b="1" kern="100" dirty="0">
                <a:latin typeface="Times New Roman" panose="02020603050405020304" pitchFamily="18" charset="0"/>
                <a:ea typeface="Times New Roman" panose="02020603050405020304" pitchFamily="18" charset="0"/>
                <a:cs typeface="Times New Roman" panose="02020603050405020304" pitchFamily="18" charset="0"/>
              </a:rPr>
              <a:t>3</a:t>
            </a:r>
            <a:r>
              <a:rPr lang="fr-BE"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400" b="1" dirty="0">
                <a:latin typeface="Times New Roman" panose="02020603050405020304" pitchFamily="18" charset="0"/>
                <a:cs typeface="Times New Roman" panose="02020603050405020304" pitchFamily="18" charset="0"/>
              </a:rPr>
              <a:t>Perception des riverains sur les logements et les espaces verts de la nouvelle cité de Ouèdo </a:t>
            </a:r>
          </a:p>
        </p:txBody>
      </p:sp>
      <p:sp>
        <p:nvSpPr>
          <p:cNvPr id="6" name="ZoneTexte 5">
            <a:extLst>
              <a:ext uri="{FF2B5EF4-FFF2-40B4-BE49-F238E27FC236}">
                <a16:creationId xmlns="" xmlns:a16="http://schemas.microsoft.com/office/drawing/2014/main" id="{3086C0A6-7035-D030-1EFD-228A26BD0ABF}"/>
              </a:ext>
            </a:extLst>
          </p:cNvPr>
          <p:cNvSpPr txBox="1"/>
          <p:nvPr/>
        </p:nvSpPr>
        <p:spPr>
          <a:xfrm>
            <a:off x="0" y="1201336"/>
            <a:ext cx="12192000" cy="498663"/>
          </a:xfrm>
          <a:prstGeom prst="rect">
            <a:avLst/>
          </a:prstGeom>
          <a:noFill/>
        </p:spPr>
        <p:txBody>
          <a:bodyPr wrap="square">
            <a:spAutoFit/>
          </a:bodyPr>
          <a:lstStyle/>
          <a:p>
            <a:pPr algn="just">
              <a:lnSpc>
                <a:spcPct val="150000"/>
              </a:lnSpc>
              <a:spcBef>
                <a:spcPts val="800"/>
              </a:spcBef>
              <a:spcAft>
                <a:spcPts val="400"/>
              </a:spcAft>
            </a:pPr>
            <a:r>
              <a:rPr lang="fr-FR"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3-1 Appréciations générales des riverains sur les espaces verts et leurs avis sur la suffisance des espaces verts </a:t>
            </a:r>
          </a:p>
        </p:txBody>
      </p:sp>
      <p:graphicFrame>
        <p:nvGraphicFramePr>
          <p:cNvPr id="7" name="Graphique 6">
            <a:extLst>
              <a:ext uri="{FF2B5EF4-FFF2-40B4-BE49-F238E27FC236}">
                <a16:creationId xmlns="" xmlns:a16="http://schemas.microsoft.com/office/drawing/2014/main" id="{04BE6EBE-73A0-183C-2B46-266780014978}"/>
              </a:ext>
            </a:extLst>
          </p:cNvPr>
          <p:cNvGraphicFramePr/>
          <p:nvPr>
            <p:extLst>
              <p:ext uri="{D42A27DB-BD31-4B8C-83A1-F6EECF244321}">
                <p14:modId xmlns:p14="http://schemas.microsoft.com/office/powerpoint/2010/main" val="3434217087"/>
              </p:ext>
            </p:extLst>
          </p:nvPr>
        </p:nvGraphicFramePr>
        <p:xfrm>
          <a:off x="2011482" y="1887625"/>
          <a:ext cx="7371668" cy="3902380"/>
        </p:xfrm>
        <a:graphic>
          <a:graphicData uri="http://schemas.openxmlformats.org/drawingml/2006/chart">
            <c:chart xmlns:c="http://schemas.openxmlformats.org/drawingml/2006/chart" xmlns:r="http://schemas.openxmlformats.org/officeDocument/2006/relationships" r:id="rId3"/>
          </a:graphicData>
        </a:graphic>
      </p:graphicFrame>
      <p:sp>
        <p:nvSpPr>
          <p:cNvPr id="9" name="ZoneTexte 8">
            <a:extLst>
              <a:ext uri="{FF2B5EF4-FFF2-40B4-BE49-F238E27FC236}">
                <a16:creationId xmlns="" xmlns:a16="http://schemas.microsoft.com/office/drawing/2014/main" id="{35925540-9F0D-669A-A4BC-CD84152F4F16}"/>
              </a:ext>
            </a:extLst>
          </p:cNvPr>
          <p:cNvSpPr txBox="1"/>
          <p:nvPr/>
        </p:nvSpPr>
        <p:spPr>
          <a:xfrm>
            <a:off x="1856736" y="5977631"/>
            <a:ext cx="7371669" cy="880369"/>
          </a:xfrm>
          <a:prstGeom prst="rect">
            <a:avLst/>
          </a:prstGeom>
          <a:noFill/>
        </p:spPr>
        <p:txBody>
          <a:bodyPr wrap="square">
            <a:spAutoFit/>
          </a:bodyPr>
          <a:lstStyle/>
          <a:p>
            <a:pPr algn="just">
              <a:lnSpc>
                <a:spcPct val="115000"/>
              </a:lnSpc>
              <a:spcAft>
                <a:spcPts val="800"/>
              </a:spcAft>
              <a:buNone/>
            </a:pPr>
            <a:r>
              <a:rPr lang="fr-FR" sz="2000" b="1" kern="100" dirty="0">
                <a:effectLst/>
                <a:latin typeface="Times New Roman" panose="02020603050405020304" pitchFamily="18" charset="0"/>
                <a:ea typeface="Calibri" panose="020F0502020204030204" pitchFamily="34" charset="0"/>
                <a:cs typeface="Times New Roman" panose="02020603050405020304" pitchFamily="18" charset="0"/>
              </a:rPr>
              <a:t>Figure 6 : </a:t>
            </a:r>
            <a:r>
              <a:rPr lang="fr-FR" sz="2000" kern="100" dirty="0">
                <a:effectLst/>
                <a:latin typeface="Times New Roman" panose="02020603050405020304" pitchFamily="18" charset="0"/>
                <a:ea typeface="Calibri" panose="020F0502020204030204" pitchFamily="34" charset="0"/>
                <a:cs typeface="Times New Roman" panose="02020603050405020304" pitchFamily="18" charset="0"/>
              </a:rPr>
              <a:t>Appréciations des riverains sur les espaces verts de Ouèdo</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fr-FR" sz="20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Source </a:t>
            </a: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Résultats de terrain, juin 2025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83205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 xmlns:a16="http://schemas.microsoft.com/office/drawing/2014/main" id="{EA3D5FB7-D1ED-87C7-6341-5E3F875DD200}"/>
              </a:ext>
            </a:extLst>
          </p:cNvPr>
          <p:cNvSpPr txBox="1"/>
          <p:nvPr/>
        </p:nvSpPr>
        <p:spPr>
          <a:xfrm>
            <a:off x="0" y="0"/>
            <a:ext cx="12192000" cy="707886"/>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r>
              <a:rPr lang="fr-FR" sz="4000" b="1" dirty="0">
                <a:effectLst/>
                <a:latin typeface="Times New Roman" panose="02020603050405020304" pitchFamily="18" charset="0"/>
                <a:ea typeface="Calibri" panose="020F0502020204030204" pitchFamily="34" charset="0"/>
                <a:cs typeface="Times New Roman" panose="02020603050405020304" pitchFamily="18" charset="0"/>
              </a:rPr>
              <a:t>CONCLUSION </a:t>
            </a:r>
            <a:endParaRPr lang="fr-FR" sz="4000" b="1"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 xmlns:a16="http://schemas.microsoft.com/office/drawing/2014/main" id="{26D64696-8E0C-4F8A-FECD-F3883800B939}"/>
              </a:ext>
            </a:extLst>
          </p:cNvPr>
          <p:cNvSpPr txBox="1"/>
          <p:nvPr/>
        </p:nvSpPr>
        <p:spPr>
          <a:xfrm>
            <a:off x="1326523" y="886767"/>
            <a:ext cx="8860666" cy="1427955"/>
          </a:xfrm>
          <a:prstGeom prst="rect">
            <a:avLst/>
          </a:prstGeom>
          <a:noFill/>
        </p:spPr>
        <p:txBody>
          <a:bodyPr wrap="square">
            <a:spAutoFit/>
          </a:bodyPr>
          <a:lstStyle/>
          <a:p>
            <a:pPr marL="285750" indent="-285750" algn="just">
              <a:lnSpc>
                <a:spcPct val="150000"/>
              </a:lnSpc>
              <a:spcAft>
                <a:spcPts val="800"/>
              </a:spcAft>
              <a:buFont typeface="Wingdings" panose="05000000000000000000" pitchFamily="2" charset="2"/>
              <a:buChar char="v"/>
            </a:pP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Dans la cité nouvelle de Ouèdo, l’aménagement paysager se caractérise par (03) types d’espaces verts à savoir : les arbres d’alignement de voirie ,</a:t>
            </a:r>
            <a:r>
              <a:rPr lang="fr-FR" sz="2000" kern="0" dirty="0">
                <a:effectLst/>
                <a:latin typeface="Times New Roman" panose="02020603050405020304" pitchFamily="18" charset="0"/>
                <a:ea typeface="SimSun" panose="02010600030101010101" pitchFamily="2" charset="-122"/>
                <a:cs typeface="Times New Roman" panose="02020603050405020304" pitchFamily="18" charset="0"/>
              </a:rPr>
              <a:t>les espaces verts d’accompagnement</a:t>
            </a: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 d’habitation</a:t>
            </a:r>
            <a:r>
              <a:rPr lang="fr-FR"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ainsi que</a:t>
            </a:r>
            <a:r>
              <a:rPr lang="fr-FR"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000" kern="0" dirty="0">
                <a:effectLst/>
                <a:latin typeface="Times New Roman" panose="02020603050405020304" pitchFamily="18" charset="0"/>
                <a:ea typeface="SimSun" panose="02010600030101010101" pitchFamily="2" charset="-122"/>
                <a:cs typeface="Times New Roman" panose="02020603050405020304" pitchFamily="18" charset="0"/>
              </a:rPr>
              <a:t>les jardins</a:t>
            </a:r>
            <a:r>
              <a:rPr lang="fr-FR" sz="20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ZoneTexte 6">
            <a:extLst>
              <a:ext uri="{FF2B5EF4-FFF2-40B4-BE49-F238E27FC236}">
                <a16:creationId xmlns="" xmlns:a16="http://schemas.microsoft.com/office/drawing/2014/main" id="{4D2093CE-E570-1958-7CCD-69A629FDAD2C}"/>
              </a:ext>
            </a:extLst>
          </p:cNvPr>
          <p:cNvSpPr txBox="1"/>
          <p:nvPr/>
        </p:nvSpPr>
        <p:spPr>
          <a:xfrm>
            <a:off x="1326522" y="2271313"/>
            <a:ext cx="8860665" cy="1883657"/>
          </a:xfrm>
          <a:prstGeom prst="rect">
            <a:avLst/>
          </a:prstGeom>
          <a:noFill/>
        </p:spPr>
        <p:txBody>
          <a:bodyPr wrap="square">
            <a:spAutoFit/>
          </a:bodyPr>
          <a:lstStyle/>
          <a:p>
            <a:pPr marL="285750" indent="-285750" algn="just">
              <a:lnSpc>
                <a:spcPct val="150000"/>
              </a:lnSpc>
              <a:buFont typeface="Wingdings" panose="05000000000000000000" pitchFamily="2" charset="2"/>
              <a:buChar char="v"/>
            </a:pPr>
            <a:r>
              <a:rPr lang="fr-FR" sz="2000" dirty="0">
                <a:effectLst/>
                <a:latin typeface="Times New Roman" panose="02020603050405020304" pitchFamily="18" charset="0"/>
                <a:ea typeface="Times New Roman" panose="02020603050405020304" pitchFamily="18" charset="0"/>
              </a:rPr>
              <a:t>La gestion reposant sur l’intervention coordonnée de trois entreprises privées spécialisées (Main Verte, Nexus Floral Sarl, SIBI), sous la supervision des structures publiques telles que la </a:t>
            </a:r>
            <a:r>
              <a:rPr lang="fr-FR" sz="2000" dirty="0" err="1">
                <a:effectLst/>
                <a:latin typeface="Times New Roman" panose="02020603050405020304" pitchFamily="18" charset="0"/>
                <a:ea typeface="Times New Roman" panose="02020603050405020304" pitchFamily="18" charset="0"/>
              </a:rPr>
              <a:t>SimAU</a:t>
            </a:r>
            <a:r>
              <a:rPr lang="fr-FR" sz="2000" dirty="0">
                <a:effectLst/>
                <a:latin typeface="Times New Roman" panose="02020603050405020304" pitchFamily="18" charset="0"/>
                <a:ea typeface="Times New Roman" panose="02020603050405020304" pitchFamily="18" charset="0"/>
              </a:rPr>
              <a:t> et l’</a:t>
            </a:r>
            <a:r>
              <a:rPr lang="fr-FR" sz="2000" dirty="0" err="1">
                <a:effectLst/>
                <a:latin typeface="Times New Roman" panose="02020603050405020304" pitchFamily="18" charset="0"/>
                <a:ea typeface="Times New Roman" panose="02020603050405020304" pitchFamily="18" charset="0"/>
              </a:rPr>
              <a:t>ANaP</a:t>
            </a:r>
            <a:r>
              <a:rPr lang="fr-FR" sz="2000" dirty="0">
                <a:effectLst/>
                <a:latin typeface="Times New Roman" panose="02020603050405020304" pitchFamily="18" charset="0"/>
                <a:ea typeface="Times New Roman" panose="02020603050405020304" pitchFamily="18" charset="0"/>
              </a:rPr>
              <a:t>, qui veillent au respect des normes d’aménagement et d’entretien.</a:t>
            </a:r>
          </a:p>
        </p:txBody>
      </p:sp>
      <p:sp>
        <p:nvSpPr>
          <p:cNvPr id="9" name="ZoneTexte 8">
            <a:extLst>
              <a:ext uri="{FF2B5EF4-FFF2-40B4-BE49-F238E27FC236}">
                <a16:creationId xmlns="" xmlns:a16="http://schemas.microsoft.com/office/drawing/2014/main" id="{222DA9D8-0EBF-7C6C-C507-D3C5C7B25AC3}"/>
              </a:ext>
            </a:extLst>
          </p:cNvPr>
          <p:cNvSpPr txBox="1"/>
          <p:nvPr/>
        </p:nvSpPr>
        <p:spPr>
          <a:xfrm>
            <a:off x="1326520" y="4154970"/>
            <a:ext cx="8860665" cy="1883657"/>
          </a:xfrm>
          <a:prstGeom prst="rect">
            <a:avLst/>
          </a:prstGeom>
          <a:noFill/>
        </p:spPr>
        <p:txBody>
          <a:bodyPr wrap="square">
            <a:spAutoFit/>
          </a:bodyPr>
          <a:lstStyle/>
          <a:p>
            <a:pPr marL="285750" indent="-285750" algn="just">
              <a:lnSpc>
                <a:spcPct val="150000"/>
              </a:lnSpc>
              <a:buFont typeface="Wingdings" panose="05000000000000000000" pitchFamily="2" charset="2"/>
              <a:buChar char="v"/>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De part leur caractère attrayant , </a:t>
            </a:r>
            <a:r>
              <a:rPr lang="fr-FR" sz="2000" dirty="0">
                <a:latin typeface="Times New Roman" panose="02020603050405020304" pitchFamily="18" charset="0"/>
                <a:ea typeface="Calibri" panose="020F0502020204030204" pitchFamily="34" charset="0"/>
                <a:cs typeface="Times New Roman" panose="02020603050405020304" pitchFamily="18" charset="0"/>
              </a:rPr>
              <a:t>c</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es espaces sont principalement utilisés pour les promenades et les loisirs (87 %), les jeux (75 %) et l’ombrage (25 %). A travers cette étude ,les riverains ont une perception satisfaisante des espaces verts de la nouvelle cité (</a:t>
            </a:r>
            <a:r>
              <a:rPr lang="fr-FR" sz="2000" dirty="0">
                <a:latin typeface="Times New Roman" panose="02020603050405020304" pitchFamily="18" charset="0"/>
                <a:cs typeface="Times New Roman" panose="02020603050405020304" pitchFamily="18" charset="0"/>
              </a:rPr>
              <a:t>94 %).</a:t>
            </a:r>
          </a:p>
        </p:txBody>
      </p:sp>
    </p:spTree>
    <p:extLst>
      <p:ext uri="{BB962C8B-B14F-4D97-AF65-F5344CB8AC3E}">
        <p14:creationId xmlns:p14="http://schemas.microsoft.com/office/powerpoint/2010/main" val="2663934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 xmlns:a16="http://schemas.microsoft.com/office/drawing/2014/main" id="{FCA6DBBA-A302-D893-8D81-A5D71BFF274E}"/>
              </a:ext>
            </a:extLst>
          </p:cNvPr>
          <p:cNvSpPr txBox="1"/>
          <p:nvPr/>
        </p:nvSpPr>
        <p:spPr>
          <a:xfrm>
            <a:off x="0" y="0"/>
            <a:ext cx="12192000" cy="707886"/>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r>
              <a:rPr lang="fr-BE" sz="4000" b="1" dirty="0">
                <a:effectLst/>
                <a:latin typeface="Times New Roman" panose="02020603050405020304" pitchFamily="18" charset="0"/>
                <a:ea typeface="Calibri" panose="020F0502020204030204" pitchFamily="34" charset="0"/>
                <a:cs typeface="Times New Roman" panose="02020603050405020304" pitchFamily="18" charset="0"/>
              </a:rPr>
              <a:t>SUGGESTIONS </a:t>
            </a:r>
            <a:endParaRPr lang="fr-FR" sz="4000" b="1"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 xmlns:a16="http://schemas.microsoft.com/office/drawing/2014/main" id="{A3AE656A-9609-87D7-4C95-09AB6520951A}"/>
              </a:ext>
            </a:extLst>
          </p:cNvPr>
          <p:cNvSpPr txBox="1"/>
          <p:nvPr/>
        </p:nvSpPr>
        <p:spPr>
          <a:xfrm>
            <a:off x="352022" y="2221019"/>
            <a:ext cx="8315459" cy="224196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Instaurer un cadre réglementaire strict pour la gestion de ces espaces verts;</a:t>
            </a:r>
          </a:p>
          <a:p>
            <a:pPr marL="342900" indent="-342900" algn="just">
              <a:lnSpc>
                <a:spcPct val="1500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Préserver durablement ces aménagements au profit des générations futures</a:t>
            </a:r>
            <a:r>
              <a:rPr lang="fr-FR" sz="2000" dirty="0">
                <a:latin typeface="Times New Roman" panose="02020603050405020304" pitchFamily="18" charset="0"/>
                <a:cs typeface="Times New Roman" panose="02020603050405020304" pitchFamily="18" charset="0"/>
              </a:rPr>
              <a:t>;</a:t>
            </a:r>
          </a:p>
        </p:txBody>
      </p:sp>
      <p:sp>
        <p:nvSpPr>
          <p:cNvPr id="4" name="ZoneTexte 3">
            <a:extLst>
              <a:ext uri="{FF2B5EF4-FFF2-40B4-BE49-F238E27FC236}">
                <a16:creationId xmlns="" xmlns:a16="http://schemas.microsoft.com/office/drawing/2014/main" id="{780A570D-74AF-8F42-9633-F4353369E8CE}"/>
              </a:ext>
            </a:extLst>
          </p:cNvPr>
          <p:cNvSpPr txBox="1"/>
          <p:nvPr/>
        </p:nvSpPr>
        <p:spPr>
          <a:xfrm>
            <a:off x="352022" y="1346875"/>
            <a:ext cx="6105378" cy="579967"/>
          </a:xfrm>
          <a:prstGeom prst="rect">
            <a:avLst/>
          </a:prstGeom>
          <a:noFill/>
        </p:spPr>
        <p:txBody>
          <a:bodyPr wrap="square">
            <a:spAutoFit/>
          </a:bodyPr>
          <a:lstStyle/>
          <a:p>
            <a:pPr algn="just">
              <a:lnSpc>
                <a:spcPct val="150000"/>
              </a:lnSpc>
              <a:spcAft>
                <a:spcPts val="1000"/>
              </a:spcAft>
              <a:tabLst>
                <a:tab pos="1614805" algn="l"/>
              </a:tabLs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Comme suggestion, il faut </a:t>
            </a:r>
            <a:endParaRPr lang="fr-FR"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95363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 xmlns:a16="http://schemas.microsoft.com/office/drawing/2014/main" id="{81787135-5F4D-CD94-16A0-70D2BDDD15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7177177"/>
          </a:xfrm>
          <a:prstGeom prst="rect">
            <a:avLst/>
          </a:prstGeom>
        </p:spPr>
      </p:pic>
      <p:sp>
        <p:nvSpPr>
          <p:cNvPr id="4" name="ZoneTexte 3">
            <a:extLst>
              <a:ext uri="{FF2B5EF4-FFF2-40B4-BE49-F238E27FC236}">
                <a16:creationId xmlns="" xmlns:a16="http://schemas.microsoft.com/office/drawing/2014/main" id="{C53B3F1A-8DD2-E247-D17B-18753F34017F}"/>
              </a:ext>
            </a:extLst>
          </p:cNvPr>
          <p:cNvSpPr txBox="1"/>
          <p:nvPr/>
        </p:nvSpPr>
        <p:spPr>
          <a:xfrm>
            <a:off x="2116016" y="2599565"/>
            <a:ext cx="7959968" cy="144655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fr-FR" sz="4400" b="0" i="0" u="none" strike="noStrike" kern="1200" cap="none" spc="0" baseline="0" dirty="0">
                <a:uFillTx/>
                <a:latin typeface="Times New Roman" panose="02020603050405020304" pitchFamily="18" charset="0"/>
                <a:ea typeface=""/>
                <a:cs typeface="Times New Roman" panose="02020603050405020304" pitchFamily="18" charset="0"/>
              </a:rPr>
              <a:t>MERCI </a:t>
            </a:r>
            <a:r>
              <a:rPr lang="fr-FR" sz="4400" b="0" i="0" u="none" strike="noStrike" kern="0" cap="none" spc="0" baseline="0" dirty="0">
                <a:uFillTx/>
                <a:latin typeface="Times New Roman" panose="02020603050405020304" pitchFamily="18" charset="0"/>
                <a:ea typeface=""/>
                <a:cs typeface="Times New Roman" panose="02020603050405020304" pitchFamily="18" charset="0"/>
              </a:rPr>
              <a:t>DE</a:t>
            </a:r>
            <a:r>
              <a:rPr lang="fr-FR" sz="4400" b="0" i="0" u="none" strike="noStrike" kern="1200" cap="none" spc="0" baseline="0" dirty="0">
                <a:uFillTx/>
                <a:latin typeface="Times New Roman" panose="02020603050405020304" pitchFamily="18" charset="0"/>
                <a:ea typeface=""/>
                <a:cs typeface="Times New Roman" panose="02020603050405020304" pitchFamily="18" charset="0"/>
              </a:rPr>
              <a:t> VOTRE AIMABLE ATTENTION</a:t>
            </a:r>
            <a:endParaRPr lang="fr-FR"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959339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1629</TotalTime>
  <Words>1742</Words>
  <Application>Microsoft Office PowerPoint</Application>
  <PresentationFormat>Grand écran</PresentationFormat>
  <Paragraphs>170</Paragraphs>
  <Slides>20</Slides>
  <Notes>20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20</vt:i4>
      </vt:variant>
    </vt:vector>
  </HeadingPairs>
  <TitlesOfParts>
    <vt:vector size="27" baseType="lpstr">
      <vt:lpstr>SimSun</vt:lpstr>
      <vt:lpstr>Arial</vt:lpstr>
      <vt:lpstr>Calibri</vt:lpstr>
      <vt:lpstr>Calibri Light</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TOBI</dc:creator>
  <cp:lastModifiedBy>HP</cp:lastModifiedBy>
  <cp:revision>24</cp:revision>
  <dcterms:created xsi:type="dcterms:W3CDTF">2025-08-02T13:10:05Z</dcterms:created>
  <dcterms:modified xsi:type="dcterms:W3CDTF">2025-10-07T23:14:44Z</dcterms:modified>
</cp:coreProperties>
</file>